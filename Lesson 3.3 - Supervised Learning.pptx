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24.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1.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27.xml"/>
  <Override ContentType="application/vnd.openxmlformats-officedocument.presentationml.notesSlide+xml" PartName="/ppt/notesSlides/notesSlide23.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8" r:id="rId5"/>
  </p:sldMasterIdLst>
  <p:notesMasterIdLst>
    <p:notesMasterId r:id="rId6"/>
  </p:notesMasterIdLst>
  <p:sldIdLst>
    <p:sldId id="256" r:id="rId7"/>
    <p:sldId id="259" r:id="rId10"/>
    <p:sldId id="260" r:id="rId11"/>
    <p:sldId id="262" r:id="rId13"/>
    <p:sldId id="263" r:id="rId14"/>
    <p:sldId id="272" r:id="rId23"/>
    <p:sldId id="273" r:id="rId24"/>
    <p:sldId id="275" r:id="rId26"/>
    <p:sldId id="278" r:id="rId29"/>
    <p:sldId id="279" r:id="rId30"/>
    <p:sldId id="280" r:id="rId31"/>
    <p:sldId id="282" r:id="rId33"/>
    <p:sldId id="286" r:id="rId37"/>
    <p:sldId id="287" r:id="rId38"/>
    <p:sldId id="291" r:id="rId42"/>
  </p:sldIdLst>
  <p:sldSz cy="5143500" cx="9144000"/>
  <p:notesSz cx="6858000" cy="9144000"/>
  <p:embeddedFontLst>
    <p:embeddedFont>
      <p:font typeface="Roboto Mono"/>
      <p:regular r:id="rId43"/>
      <p:bold r:id="rId44"/>
      <p:italic r:id="rId45"/>
      <p:boldItalic r:id="rId46"/>
    </p:embeddedFont>
    <p:embeddedFont>
      <p:font typeface="Open Sans Light"/>
      <p:regular r:id="rId47"/>
      <p:bold r:id="rId48"/>
      <p:italic r:id="rId49"/>
      <p:boldItalic r:id="rId50"/>
    </p:embeddedFont>
    <p:embeddedFont>
      <p:font typeface="Open Sans"/>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59">
          <p15:clr>
            <a:srgbClr val="747775"/>
          </p15:clr>
        </p15:guide>
        <p15:guide id="2" pos="5522">
          <p15:clr>
            <a:srgbClr val="747775"/>
          </p15:clr>
        </p15:guide>
        <p15:guide id="3" orient="horz" pos="764">
          <p15:clr>
            <a:srgbClr val="747775"/>
          </p15:clr>
        </p15:guide>
        <p15:guide id="4" orient="horz" pos="2478">
          <p15:clr>
            <a:srgbClr val="747775"/>
          </p15:clr>
        </p15:guide>
        <p15:guide id="5" orient="horz" pos="2615">
          <p15:clr>
            <a:srgbClr val="747775"/>
          </p15:clr>
        </p15:guide>
        <p15:guide id="6" orient="horz" pos="3023">
          <p15:clr>
            <a:srgbClr val="747775"/>
          </p15:clr>
        </p15:guide>
        <p15:guide id="7" pos="1813">
          <p15:clr>
            <a:srgbClr val="747775"/>
          </p15:clr>
        </p15:guide>
        <p15:guide id="8" pos="1950">
          <p15:clr>
            <a:srgbClr val="747775"/>
          </p15:clr>
        </p15:guide>
        <p15:guide id="9" pos="3652">
          <p15:clr>
            <a:srgbClr val="747775"/>
          </p15:clr>
        </p15:guide>
        <p15:guide id="10" pos="379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BB44C57-90A2-424C-8A26-A9795E62AD86}">
  <a:tblStyle styleId="{DBB44C57-90A2-424C-8A26-A9795E62AD8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F57541C3-F64C-4872-9BC9-C4CD488A4EE5}" styleName="Table_1">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59"/>
        <p:guide pos="5522"/>
        <p:guide pos="764" orient="horz"/>
        <p:guide pos="2478" orient="horz"/>
        <p:guide pos="2615" orient="horz"/>
        <p:guide pos="3023" orient="horz"/>
        <p:guide pos="1813"/>
        <p:guide pos="1950"/>
        <p:guide pos="3652"/>
        <p:guide pos="3794"/>
      </p:guideLst>
    </p:cSldViewPr>
  </p:slideViewPr>
</p:viewPr>
</file>

<file path=ppt/_rels/presentation.xml.rels><?xml version="1.0" encoding="UTF-8"?><Relationships xmlns="http://schemas.openxmlformats.org/package/2006/relationships"><Relationship Id="rId42" Type="http://schemas.openxmlformats.org/officeDocument/2006/relationships/slide" Target="slides/slide36.xml"/><Relationship Id="rId44" Type="http://schemas.openxmlformats.org/officeDocument/2006/relationships/font" Target="fonts/RobotoMono-bold.fntdata"/><Relationship Id="rId43" Type="http://schemas.openxmlformats.org/officeDocument/2006/relationships/font" Target="fonts/RobotoMono-regular.fntdata"/><Relationship Id="rId46" Type="http://schemas.openxmlformats.org/officeDocument/2006/relationships/font" Target="fonts/RobotoMono-boldItalic.fntdata"/><Relationship Id="rId45" Type="http://schemas.openxmlformats.org/officeDocument/2006/relationships/font" Target="fonts/RobotoMon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48" Type="http://schemas.openxmlformats.org/officeDocument/2006/relationships/font" Target="fonts/OpenSansLight-bold.fntdata"/><Relationship Id="rId47" Type="http://schemas.openxmlformats.org/officeDocument/2006/relationships/font" Target="fonts/OpenSansLight-regular.fntdata"/><Relationship Id="rId49" Type="http://schemas.openxmlformats.org/officeDocument/2006/relationships/font" Target="fonts/OpenSansLight-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7" Type="http://schemas.openxmlformats.org/officeDocument/2006/relationships/slide" Target="slides/slide31.xml"/><Relationship Id="rId38" Type="http://schemas.openxmlformats.org/officeDocument/2006/relationships/slide" Target="slides/slide32.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9" Type="http://schemas.openxmlformats.org/officeDocument/2006/relationships/slide" Target="slides/slide23.xml"/><Relationship Id="rId51" Type="http://schemas.openxmlformats.org/officeDocument/2006/relationships/font" Target="fonts/OpenSans-regular.fntdata"/><Relationship Id="rId50" Type="http://schemas.openxmlformats.org/officeDocument/2006/relationships/font" Target="fonts/OpenSansLight-boldItalic.fntdata"/><Relationship Id="rId53" Type="http://schemas.openxmlformats.org/officeDocument/2006/relationships/font" Target="fonts/OpenSans-italic.fntdata"/><Relationship Id="rId52" Type="http://schemas.openxmlformats.org/officeDocument/2006/relationships/font" Target="fonts/OpenSans-bold.fntdata"/><Relationship Id="rId11" Type="http://schemas.openxmlformats.org/officeDocument/2006/relationships/slide" Target="slides/slide5.xml"/><Relationship Id="rId10" Type="http://schemas.openxmlformats.org/officeDocument/2006/relationships/slide" Target="slides/slide4.xml"/><Relationship Id="rId54" Type="http://schemas.openxmlformats.org/officeDocument/2006/relationships/font" Target="fonts/OpenSans-boldItalic.fntdata"/><Relationship Id="rId13" Type="http://schemas.openxmlformats.org/officeDocument/2006/relationships/slide" Target="slides/slide7.xml"/><Relationship Id="rId14" Type="http://schemas.openxmlformats.org/officeDocument/2006/relationships/slide" Target="slides/slide8.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g345d6ec7d82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 name="Google Shape;50;g345d6ec7d82_0_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p>
        </p:txBody>
      </p:sp>
      <p:sp>
        <p:nvSpPr>
          <p:cNvPr id="51" name="Google Shape;51;g345d6ec7d82_0_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eeb2d9e87c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 name="Google Shape;74;g3eeb2d9e87c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GB" sz="1200" u="none" cap="none" strike="noStrike">
                <a:solidFill>
                  <a:schemeClr val="dk1"/>
                </a:solidFill>
                <a:latin typeface="Arial"/>
                <a:ea typeface="Arial"/>
                <a:cs typeface="Arial"/>
                <a:sym typeface="Arial"/>
              </a:rPr>
              <a:t>Welcome to Lesson 3 — Supervised Learning Foundations. This is the most production-relevant lesson in the course. Today: preprocessing, training, evaluation, and the business-aware threshold choice. Same 3-hour structure as L01 and L02 — ~90 min slides + ~90 min hands-on with three slim notebooks.</a:t>
            </a:r>
            <a:endParaRPr/>
          </a:p>
        </p:txBody>
      </p:sp>
      <p:sp>
        <p:nvSpPr>
          <p:cNvPr id="75" name="Google Shape;75;g3eeb2d9e87c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eeb2d9e87c_0_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 name="Google Shape;84;g3eeb2d9e87c_0_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chemeClr val="dk1"/>
                </a:solidFill>
                <a:latin typeface="Arial"/>
                <a:ea typeface="Arial"/>
                <a:cs typeface="Arial"/>
                <a:sym typeface="Arial"/>
              </a:rPr>
              <a:t>Quick recap. End of L02, Marcus asked Sarah: 'can you train your own model on NorthStar data?' That brief is this week's work. Sarah received a new dataset: 10,000 customers, 11 features, target = churned. By Friday: a working classifier + honest metrics + a recommendation on how to use it.</a:t>
            </a:r>
            <a:endParaRPr/>
          </a:p>
        </p:txBody>
      </p:sp>
      <p:sp>
        <p:nvSpPr>
          <p:cNvPr id="85" name="Google Shape;85;g3eeb2d9e87c_0_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eeb2d9e87c_0_6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g3eeb2d9e87c_0_6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chemeClr val="dk1"/>
                </a:solidFill>
                <a:latin typeface="Arial"/>
                <a:ea typeface="Arial"/>
                <a:cs typeface="Arial"/>
                <a:sym typeface="Arial"/>
              </a:rPr>
              <a:t>Most beginners think the model is the hard part. It isn't. Across any real project, the time and risk are in three places: preprocessing, honest evaluation, and threshold choice. Each of our three in-class notebooks is one of these.</a:t>
            </a:r>
            <a:endParaRPr/>
          </a:p>
        </p:txBody>
      </p:sp>
      <p:sp>
        <p:nvSpPr>
          <p:cNvPr id="111" name="Google Shape;111;g3eeb2d9e87c_0_6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eeb2d9e87c_0_9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 name="Google Shape;140;g3eeb2d9e87c_0_9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chemeClr val="dk1"/>
                </a:solidFill>
                <a:latin typeface="Arial"/>
                <a:ea typeface="Arial"/>
                <a:cs typeface="Arial"/>
                <a:sym typeface="Arial"/>
              </a:rPr>
              <a:t>Three real-world problems that show up in every tabular dataset and break models before training starts. Missing values, mixed scales, and text-as-categories. Sklearn has standard tools for each.</a:t>
            </a:r>
            <a:endParaRPr/>
          </a:p>
        </p:txBody>
      </p:sp>
      <p:sp>
        <p:nvSpPr>
          <p:cNvPr id="141" name="Google Shape;141;g3eeb2d9e87c_0_9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eeb2d9e87c_0_2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9" name="Google Shape;299;g3eeb2d9e87c_0_2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chemeClr val="dk1"/>
                </a:solidFill>
                <a:latin typeface="Arial"/>
                <a:ea typeface="Arial"/>
                <a:cs typeface="Arial"/>
                <a:sym typeface="Arial"/>
              </a:rPr>
              <a:t>Time for a 30-minute code-along on 02_preprocessing.ipynb. Open the notebook, work the Core section, stop at the 🟡 marker. Extension is for self-study.</a:t>
            </a:r>
            <a:endParaRPr/>
          </a:p>
        </p:txBody>
      </p:sp>
      <p:sp>
        <p:nvSpPr>
          <p:cNvPr id="300" name="Google Shape;300;g3eeb2d9e87c_0_2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eeb2d9e87c_0_2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5" name="Google Shape;315;g3eeb2d9e87c_0_2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chemeClr val="dk1"/>
                </a:solidFill>
                <a:latin typeface="Arial"/>
                <a:ea typeface="Arial"/>
                <a:cs typeface="Arial"/>
                <a:sym typeface="Arial"/>
              </a:rPr>
              <a:t>Logistic regression — despite the name, it's a CLASSIFICATION algorithm. The output is a probability between 0 and 1. Coefficients are interpretable: sign = direction, magnitude = strength.</a:t>
            </a:r>
            <a:endParaRPr/>
          </a:p>
        </p:txBody>
      </p:sp>
      <p:sp>
        <p:nvSpPr>
          <p:cNvPr id="316" name="Google Shape;316;g3eeb2d9e87c_0_2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eeb2d9e87c_0_28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8" name="Google Shape;368;g3eeb2d9e87c_0_28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chemeClr val="dk1"/>
                </a:solidFill>
                <a:latin typeface="Arial"/>
                <a:ea typeface="Arial"/>
                <a:cs typeface="Arial"/>
                <a:sym typeface="Arial"/>
              </a:rPr>
              <a:t>Train/test split — hold out 20% as the test set BEFORE training. The model never sees this data during fitting. The score on it is your honest estimate of how it'll do on new customers.</a:t>
            </a:r>
            <a:endParaRPr/>
          </a:p>
        </p:txBody>
      </p:sp>
      <p:sp>
        <p:nvSpPr>
          <p:cNvPr id="369" name="Google Shape;369;g3eeb2d9e87c_0_28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eeb2d9e87c_0_39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1" name="Google Shape;471;g3eeb2d9e87c_0_39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chemeClr val="dk1"/>
                </a:solidFill>
                <a:latin typeface="Arial"/>
                <a:ea typeface="Arial"/>
                <a:cs typeface="Arial"/>
                <a:sym typeface="Arial"/>
              </a:rPr>
              <a:t>Here's the trap. The model scored 88% accuracy. Sounds great. But the baseline — guessing 'stayed' for everyone — is ALSO 88% because 88% of customers stayed. The model is barely doing anything. Accuracy hides this on imbalanced data.</a:t>
            </a:r>
            <a:endParaRPr/>
          </a:p>
        </p:txBody>
      </p:sp>
      <p:sp>
        <p:nvSpPr>
          <p:cNvPr id="472" name="Google Shape;472;g3eeb2d9e87c_0_39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eeb2d9e87c_0_4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1" name="Google Shape;491;g3eeb2d9e87c_0_4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chemeClr val="dk1"/>
                </a:solidFill>
                <a:latin typeface="Arial"/>
                <a:ea typeface="Arial"/>
                <a:cs typeface="Arial"/>
                <a:sym typeface="Arial"/>
              </a:rPr>
              <a:t>The confusion matrix groups every prediction into four bins. TP, FP, FN, TN. Four bins reveal what accuracy alone hides. Let's look at Sarah's model at the default threshold of 0.5.</a:t>
            </a:r>
            <a:endParaRPr/>
          </a:p>
        </p:txBody>
      </p:sp>
      <p:sp>
        <p:nvSpPr>
          <p:cNvPr id="492" name="Google Shape;492;g3eeb2d9e87c_0_4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eeb2d9e87c_0_4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1" name="Google Shape;521;g3eeb2d9e87c_0_4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chemeClr val="dk1"/>
                </a:solidFill>
                <a:latin typeface="Arial"/>
                <a:ea typeface="Arial"/>
                <a:cs typeface="Arial"/>
                <a:sym typeface="Arial"/>
              </a:rPr>
              <a:t>Two metrics derive from the confusion matrix. Precision answers 'of everyone we flagged, what fraction were right?'. Recall answers 'of all actual positives, what fraction did we catch?'. They trade off.</a:t>
            </a:r>
            <a:endParaRPr/>
          </a:p>
        </p:txBody>
      </p:sp>
      <p:sp>
        <p:nvSpPr>
          <p:cNvPr id="522" name="Google Shape;522;g3eeb2d9e87c_0_44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eeb2d9e87c_0_5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3" name="Google Shape;593;g3eeb2d9e87c_0_5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chemeClr val="dk1"/>
                </a:solidFill>
                <a:latin typeface="Arial"/>
                <a:ea typeface="Arial"/>
                <a:cs typeface="Arial"/>
                <a:sym typeface="Arial"/>
              </a:rPr>
              <a:t>Logistic regression outputs a probability. To get a label, you pick a threshold. The default is 0.5 but it's rarely the right business choice. The threshold IS the operational decision — capacity vs recall vs precision.</a:t>
            </a:r>
            <a:endParaRPr/>
          </a:p>
        </p:txBody>
      </p:sp>
      <p:sp>
        <p:nvSpPr>
          <p:cNvPr id="594" name="Google Shape;594;g3eeb2d9e87c_0_5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eeb2d9e87c_0_66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6" name="Google Shape;656;g3eeb2d9e87c_0_66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chemeClr val="dk1"/>
                </a:solidFill>
                <a:latin typeface="Arial"/>
                <a:ea typeface="Arial"/>
                <a:cs typeface="Arial"/>
                <a:sym typeface="Arial"/>
              </a:rPr>
              <a:t>Friday morning. Sarah walks into Marcus's office with one slide. The Pipeline, the cross-validated accuracy (with the disclaimer that it's misleading), the threshold she recommends, and the trade-off she's accepted.</a:t>
            </a:r>
            <a:endParaRPr/>
          </a:p>
        </p:txBody>
      </p:sp>
      <p:sp>
        <p:nvSpPr>
          <p:cNvPr id="657" name="Google Shape;657;g3eeb2d9e87c_0_66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3eeb2d9e87c_0_70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0" name="Google Shape;690;g3eeb2d9e87c_0_70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chemeClr val="dk1"/>
                </a:solidFill>
                <a:latin typeface="Arial"/>
                <a:ea typeface="Arial"/>
                <a:cs typeface="Arial"/>
                <a:sym typeface="Arial"/>
              </a:rPr>
              <a:t>Marcus's new question — 'can you make it better?' — is the engine of L04. Decision trees, random forests, gradient boosting. Same pipeline you built today, just a different last step.</a:t>
            </a:r>
            <a:endParaRPr/>
          </a:p>
        </p:txBody>
      </p:sp>
      <p:sp>
        <p:nvSpPr>
          <p:cNvPr id="691" name="Google Shape;691;g3eeb2d9e87c_0_70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3e6a5a0b6e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7" name="Google Shape;747;g33e6a5a0b6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g33e6a5a0b6e_0_0:notes"/>
          <p:cNvSpPr txBox="1"/>
          <p:nvPr>
            <p:ph idx="12" type="sldNum"/>
          </p:nvPr>
        </p:nvSpPr>
        <p:spPr>
          <a:xfrm>
            <a:off x="3884613" y="8685213"/>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2" type="sldNum"/>
          </p:nvPr>
        </p:nvSpPr>
        <p:spPr>
          <a:xfrm>
            <a:off x="8175125" y="4616075"/>
            <a:ext cx="8547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3"/>
          <p:cNvSpPr txBox="1"/>
          <p:nvPr>
            <p:ph type="title"/>
          </p:nvPr>
        </p:nvSpPr>
        <p:spPr>
          <a:xfrm>
            <a:off x="376550" y="147875"/>
            <a:ext cx="8310000" cy="759900"/>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5" name="Google Shape;15;p3"/>
          <p:cNvSpPr txBox="1"/>
          <p:nvPr>
            <p:ph idx="1" type="body"/>
          </p:nvPr>
        </p:nvSpPr>
        <p:spPr>
          <a:xfrm>
            <a:off x="376850" y="987925"/>
            <a:ext cx="8310000" cy="3607500"/>
          </a:xfrm>
          <a:prstGeom prst="rect">
            <a:avLst/>
          </a:prstGeom>
          <a:noFill/>
          <a:ln>
            <a:noFill/>
          </a:ln>
        </p:spPr>
        <p:txBody>
          <a:bodyPr anchorCtr="0" anchor="t" bIns="34275" lIns="68575" spcFirstLastPara="1" rIns="68575" wrap="square" tIns="34275">
            <a:normAutofit/>
          </a:bodyPr>
          <a:lstStyle>
            <a:lvl1pPr indent="-317500" lvl="0" marL="457200" algn="l">
              <a:lnSpc>
                <a:spcPct val="115000"/>
              </a:lnSpc>
              <a:spcBef>
                <a:spcPts val="0"/>
              </a:spcBef>
              <a:spcAft>
                <a:spcPts val="0"/>
              </a:spcAft>
              <a:buClr>
                <a:schemeClr val="dk1"/>
              </a:buClr>
              <a:buSzPts val="1400"/>
              <a:buChar char="•"/>
              <a:defRPr/>
            </a:lvl1pPr>
            <a:lvl2pPr indent="-317500" lvl="1" marL="914400" algn="l">
              <a:lnSpc>
                <a:spcPct val="115000"/>
              </a:lnSpc>
              <a:spcBef>
                <a:spcPts val="1000"/>
              </a:spcBef>
              <a:spcAft>
                <a:spcPts val="0"/>
              </a:spcAft>
              <a:buClr>
                <a:schemeClr val="dk1"/>
              </a:buClr>
              <a:buSzPts val="1400"/>
              <a:buChar char="–"/>
              <a:defRPr/>
            </a:lvl2pPr>
            <a:lvl3pPr indent="-317500" lvl="2" marL="1371600" algn="l">
              <a:lnSpc>
                <a:spcPct val="115000"/>
              </a:lnSpc>
              <a:spcBef>
                <a:spcPts val="1000"/>
              </a:spcBef>
              <a:spcAft>
                <a:spcPts val="0"/>
              </a:spcAft>
              <a:buClr>
                <a:schemeClr val="dk1"/>
              </a:buClr>
              <a:buSzPts val="1400"/>
              <a:buChar char="•"/>
              <a:defRPr/>
            </a:lvl3pPr>
            <a:lvl4pPr indent="-317500" lvl="3" marL="1828800" algn="l">
              <a:lnSpc>
                <a:spcPct val="115000"/>
              </a:lnSpc>
              <a:spcBef>
                <a:spcPts val="1000"/>
              </a:spcBef>
              <a:spcAft>
                <a:spcPts val="0"/>
              </a:spcAft>
              <a:buClr>
                <a:schemeClr val="dk1"/>
              </a:buClr>
              <a:buSzPts val="1400"/>
              <a:buChar char="–"/>
              <a:defRPr/>
            </a:lvl4pPr>
            <a:lvl5pPr indent="-317500" lvl="4" marL="2286000" algn="l">
              <a:lnSpc>
                <a:spcPct val="115000"/>
              </a:lnSpc>
              <a:spcBef>
                <a:spcPts val="1000"/>
              </a:spcBef>
              <a:spcAft>
                <a:spcPts val="0"/>
              </a:spcAft>
              <a:buClr>
                <a:schemeClr val="dk1"/>
              </a:buClr>
              <a:buSzPts val="1400"/>
              <a:buChar char="»"/>
              <a:defRPr/>
            </a:lvl5pPr>
            <a:lvl6pPr indent="-317500" lvl="5" marL="2743200" algn="l">
              <a:lnSpc>
                <a:spcPct val="115000"/>
              </a:lnSpc>
              <a:spcBef>
                <a:spcPts val="1000"/>
              </a:spcBef>
              <a:spcAft>
                <a:spcPts val="0"/>
              </a:spcAft>
              <a:buClr>
                <a:schemeClr val="dk1"/>
              </a:buClr>
              <a:buSzPts val="1400"/>
              <a:buChar char="•"/>
              <a:defRPr/>
            </a:lvl6pPr>
            <a:lvl7pPr indent="-317500" lvl="6" marL="3200400" algn="l">
              <a:lnSpc>
                <a:spcPct val="115000"/>
              </a:lnSpc>
              <a:spcBef>
                <a:spcPts val="1000"/>
              </a:spcBef>
              <a:spcAft>
                <a:spcPts val="0"/>
              </a:spcAft>
              <a:buClr>
                <a:schemeClr val="dk1"/>
              </a:buClr>
              <a:buSzPts val="1400"/>
              <a:buChar char="•"/>
              <a:defRPr/>
            </a:lvl7pPr>
            <a:lvl8pPr indent="-317500" lvl="7" marL="3657600" algn="l">
              <a:lnSpc>
                <a:spcPct val="115000"/>
              </a:lnSpc>
              <a:spcBef>
                <a:spcPts val="1000"/>
              </a:spcBef>
              <a:spcAft>
                <a:spcPts val="0"/>
              </a:spcAft>
              <a:buClr>
                <a:schemeClr val="dk1"/>
              </a:buClr>
              <a:buSzPts val="1400"/>
              <a:buChar char="•"/>
              <a:defRPr/>
            </a:lvl8pPr>
            <a:lvl9pPr indent="-317500" lvl="8" marL="4114800" algn="l">
              <a:lnSpc>
                <a:spcPct val="115000"/>
              </a:lnSpc>
              <a:spcBef>
                <a:spcPts val="1000"/>
              </a:spcBef>
              <a:spcAft>
                <a:spcPts val="1000"/>
              </a:spcAft>
              <a:buClr>
                <a:schemeClr val="dk1"/>
              </a:buClr>
              <a:buSzPts val="1400"/>
              <a:buChar char="•"/>
              <a:defRPr/>
            </a:lvl9pPr>
          </a:lstStyle>
          <a:p/>
        </p:txBody>
      </p:sp>
      <p:sp>
        <p:nvSpPr>
          <p:cNvPr id="16" name="Google Shape;16;p3"/>
          <p:cNvSpPr txBox="1"/>
          <p:nvPr>
            <p:ph idx="12" type="sldNum"/>
          </p:nvPr>
        </p:nvSpPr>
        <p:spPr>
          <a:xfrm>
            <a:off x="8175125" y="4616075"/>
            <a:ext cx="8547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3 Content" type="secHead">
  <p:cSld name="SECTION_HEADER">
    <p:spTree>
      <p:nvGrpSpPr>
        <p:cNvPr id="17" name="Shape 17"/>
        <p:cNvGrpSpPr/>
        <p:nvPr/>
      </p:nvGrpSpPr>
      <p:grpSpPr>
        <a:xfrm>
          <a:off x="0" y="0"/>
          <a:ext cx="0" cy="0"/>
          <a:chOff x="0" y="0"/>
          <a:chExt cx="0" cy="0"/>
        </a:xfrm>
      </p:grpSpPr>
      <p:sp>
        <p:nvSpPr>
          <p:cNvPr id="18" name="Google Shape;18;p4"/>
          <p:cNvSpPr/>
          <p:nvPr/>
        </p:nvSpPr>
        <p:spPr>
          <a:xfrm>
            <a:off x="0" y="0"/>
            <a:ext cx="3191700" cy="4927800"/>
          </a:xfrm>
          <a:prstGeom prst="rect">
            <a:avLst/>
          </a:prstGeom>
          <a:solidFill>
            <a:srgbClr val="181C6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9" name="Google Shape;19;p4"/>
          <p:cNvSpPr txBox="1"/>
          <p:nvPr>
            <p:ph idx="12" type="sldNum"/>
          </p:nvPr>
        </p:nvSpPr>
        <p:spPr>
          <a:xfrm>
            <a:off x="8175125" y="4616075"/>
            <a:ext cx="8547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20" name="Google Shape;20;p4"/>
          <p:cNvSpPr txBox="1"/>
          <p:nvPr>
            <p:ph type="title"/>
          </p:nvPr>
        </p:nvSpPr>
        <p:spPr>
          <a:xfrm>
            <a:off x="277025" y="344075"/>
            <a:ext cx="2914800" cy="913800"/>
          </a:xfrm>
          <a:prstGeom prst="rect">
            <a:avLst/>
          </a:prstGeom>
        </p:spPr>
        <p:txBody>
          <a:bodyPr anchorCtr="0" anchor="t" bIns="34275" lIns="68575" spcFirstLastPara="1" rIns="68575" wrap="square" tIns="34275">
            <a:noAutofit/>
          </a:bodyPr>
          <a:lstStyle>
            <a:lvl1pPr lvl="0">
              <a:spcBef>
                <a:spcPts val="0"/>
              </a:spcBef>
              <a:spcAft>
                <a:spcPts val="0"/>
              </a:spcAft>
              <a:buClr>
                <a:schemeClr val="lt1"/>
              </a:buClr>
              <a:buSzPts val="2200"/>
              <a:buNone/>
              <a:defRPr sz="22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 name="Google Shape;21;p4"/>
          <p:cNvSpPr txBox="1"/>
          <p:nvPr>
            <p:ph idx="1" type="subTitle"/>
          </p:nvPr>
        </p:nvSpPr>
        <p:spPr>
          <a:xfrm>
            <a:off x="204500" y="1423350"/>
            <a:ext cx="2987100" cy="3322500"/>
          </a:xfrm>
          <a:prstGeom prst="rect">
            <a:avLst/>
          </a:prstGeom>
        </p:spPr>
        <p:txBody>
          <a:bodyPr anchorCtr="0" anchor="t" bIns="34275" lIns="68575" spcFirstLastPara="1" rIns="68575" wrap="square" tIns="34275">
            <a:normAutofit/>
          </a:bodyPr>
          <a:lstStyle>
            <a:lvl1pPr lvl="0">
              <a:spcBef>
                <a:spcPts val="0"/>
              </a:spcBef>
              <a:spcAft>
                <a:spcPts val="0"/>
              </a:spcAft>
              <a:buClr>
                <a:schemeClr val="lt1"/>
              </a:buClr>
              <a:buSzPts val="2200"/>
              <a:buNone/>
              <a:defRPr b="1" sz="2200">
                <a:solidFill>
                  <a:schemeClr val="lt1"/>
                </a:solidFill>
              </a:defRPr>
            </a:lvl1pPr>
            <a:lvl2pPr lvl="1">
              <a:spcBef>
                <a:spcPts val="1000"/>
              </a:spcBef>
              <a:spcAft>
                <a:spcPts val="0"/>
              </a:spcAft>
              <a:buSzPts val="2200"/>
              <a:buNone/>
              <a:defRPr/>
            </a:lvl2pPr>
            <a:lvl3pPr lvl="2">
              <a:spcBef>
                <a:spcPts val="1000"/>
              </a:spcBef>
              <a:spcAft>
                <a:spcPts val="0"/>
              </a:spcAft>
              <a:buSzPts val="2000"/>
              <a:buNone/>
              <a:defRPr/>
            </a:lvl3pPr>
            <a:lvl4pPr lvl="3">
              <a:spcBef>
                <a:spcPts val="1000"/>
              </a:spcBef>
              <a:spcAft>
                <a:spcPts val="0"/>
              </a:spcAft>
              <a:buSzPts val="1800"/>
              <a:buNone/>
              <a:defRPr/>
            </a:lvl4pPr>
            <a:lvl5pPr lvl="4">
              <a:spcBef>
                <a:spcPts val="1000"/>
              </a:spcBef>
              <a:spcAft>
                <a:spcPts val="0"/>
              </a:spcAft>
              <a:buSzPts val="1600"/>
              <a:buNone/>
              <a:defRPr/>
            </a:lvl5pPr>
            <a:lvl6pPr lvl="5">
              <a:spcBef>
                <a:spcPts val="1000"/>
              </a:spcBef>
              <a:spcAft>
                <a:spcPts val="0"/>
              </a:spcAft>
              <a:buSzPts val="1400"/>
              <a:buNone/>
              <a:defRPr/>
            </a:lvl6pPr>
            <a:lvl7pPr lvl="6">
              <a:spcBef>
                <a:spcPts val="1000"/>
              </a:spcBef>
              <a:spcAft>
                <a:spcPts val="0"/>
              </a:spcAft>
              <a:buSzPts val="1400"/>
              <a:buNone/>
              <a:defRPr/>
            </a:lvl7pPr>
            <a:lvl8pPr lvl="7">
              <a:spcBef>
                <a:spcPts val="1000"/>
              </a:spcBef>
              <a:spcAft>
                <a:spcPts val="0"/>
              </a:spcAft>
              <a:buSzPts val="1400"/>
              <a:buNone/>
              <a:defRPr/>
            </a:lvl8pPr>
            <a:lvl9pPr lvl="8">
              <a:spcBef>
                <a:spcPts val="1000"/>
              </a:spcBef>
              <a:spcAft>
                <a:spcPts val="1000"/>
              </a:spcAft>
              <a:buSzPts val="1400"/>
              <a:buNone/>
              <a:defRPr/>
            </a:lvl9pPr>
          </a:lstStyle>
          <a:p/>
        </p:txBody>
      </p:sp>
      <p:sp>
        <p:nvSpPr>
          <p:cNvPr id="22" name="Google Shape;22;p4"/>
          <p:cNvSpPr txBox="1"/>
          <p:nvPr>
            <p:ph idx="2" type="body"/>
          </p:nvPr>
        </p:nvSpPr>
        <p:spPr>
          <a:xfrm>
            <a:off x="3345900" y="412575"/>
            <a:ext cx="5537400" cy="4418700"/>
          </a:xfrm>
          <a:prstGeom prst="rect">
            <a:avLst/>
          </a:prstGeom>
        </p:spPr>
        <p:txBody>
          <a:bodyPr anchorCtr="0" anchor="t" bIns="34275" lIns="68575" spcFirstLastPara="1" rIns="68575" wrap="square" tIns="34275">
            <a:normAutofit/>
          </a:bodyPr>
          <a:lstStyle>
            <a:lvl1pPr indent="-381000" lvl="0" marL="457200">
              <a:spcBef>
                <a:spcPts val="0"/>
              </a:spcBef>
              <a:spcAft>
                <a:spcPts val="0"/>
              </a:spcAft>
              <a:buSzPts val="2400"/>
              <a:buChar char="•"/>
              <a:defRPr/>
            </a:lvl1pPr>
            <a:lvl2pPr indent="-368300" lvl="1" marL="914400">
              <a:spcBef>
                <a:spcPts val="1000"/>
              </a:spcBef>
              <a:spcAft>
                <a:spcPts val="0"/>
              </a:spcAft>
              <a:buSzPts val="2200"/>
              <a:buChar char="–"/>
              <a:defRPr/>
            </a:lvl2pPr>
            <a:lvl3pPr indent="-355600" lvl="2" marL="1371600">
              <a:spcBef>
                <a:spcPts val="1000"/>
              </a:spcBef>
              <a:spcAft>
                <a:spcPts val="0"/>
              </a:spcAft>
              <a:buSzPts val="2000"/>
              <a:buChar char="•"/>
              <a:defRPr/>
            </a:lvl3pPr>
            <a:lvl4pPr indent="-342900" lvl="3" marL="1828800">
              <a:spcBef>
                <a:spcPts val="1000"/>
              </a:spcBef>
              <a:spcAft>
                <a:spcPts val="0"/>
              </a:spcAft>
              <a:buSzPts val="1800"/>
              <a:buChar char="–"/>
              <a:defRPr/>
            </a:lvl4pPr>
            <a:lvl5pPr indent="-330200" lvl="4" marL="2286000">
              <a:spcBef>
                <a:spcPts val="1000"/>
              </a:spcBef>
              <a:spcAft>
                <a:spcPts val="0"/>
              </a:spcAft>
              <a:buSzPts val="1600"/>
              <a:buChar char="»"/>
              <a:defRPr/>
            </a:lvl5pPr>
            <a:lvl6pPr indent="-317500" lvl="5" marL="2743200">
              <a:spcBef>
                <a:spcPts val="1000"/>
              </a:spcBef>
              <a:spcAft>
                <a:spcPts val="0"/>
              </a:spcAft>
              <a:buSzPts val="1400"/>
              <a:buChar char="•"/>
              <a:defRPr/>
            </a:lvl6pPr>
            <a:lvl7pPr indent="-317500" lvl="6" marL="3200400">
              <a:spcBef>
                <a:spcPts val="1000"/>
              </a:spcBef>
              <a:spcAft>
                <a:spcPts val="0"/>
              </a:spcAft>
              <a:buSzPts val="1400"/>
              <a:buChar char="•"/>
              <a:defRPr/>
            </a:lvl7pPr>
            <a:lvl8pPr indent="-317500" lvl="7" marL="3657600">
              <a:spcBef>
                <a:spcPts val="1000"/>
              </a:spcBef>
              <a:spcAft>
                <a:spcPts val="0"/>
              </a:spcAft>
              <a:buSzPts val="1400"/>
              <a:buChar char="•"/>
              <a:defRPr/>
            </a:lvl8pPr>
            <a:lvl9pPr indent="-317500" lvl="8" marL="4114800">
              <a:spcBef>
                <a:spcPts val="1000"/>
              </a:spcBef>
              <a:spcAft>
                <a:spcPts val="1000"/>
              </a:spcAft>
              <a:buSzPts val="14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5"/>
          <p:cNvSpPr txBox="1"/>
          <p:nvPr>
            <p:ph type="title"/>
          </p:nvPr>
        </p:nvSpPr>
        <p:spPr>
          <a:xfrm>
            <a:off x="376550" y="147875"/>
            <a:ext cx="8310000" cy="759900"/>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Google Shape;25;p5"/>
          <p:cNvSpPr txBox="1"/>
          <p:nvPr>
            <p:ph idx="12" type="sldNum"/>
          </p:nvPr>
        </p:nvSpPr>
        <p:spPr>
          <a:xfrm>
            <a:off x="8175125" y="4616075"/>
            <a:ext cx="8547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ft 2/3 Content">
  <p:cSld name="CUSTOM">
    <p:spTree>
      <p:nvGrpSpPr>
        <p:cNvPr id="26" name="Shape 26"/>
        <p:cNvGrpSpPr/>
        <p:nvPr/>
      </p:nvGrpSpPr>
      <p:grpSpPr>
        <a:xfrm>
          <a:off x="0" y="0"/>
          <a:ext cx="0" cy="0"/>
          <a:chOff x="0" y="0"/>
          <a:chExt cx="0" cy="0"/>
        </a:xfrm>
      </p:grpSpPr>
      <p:sp>
        <p:nvSpPr>
          <p:cNvPr id="27" name="Google Shape;27;p6"/>
          <p:cNvSpPr txBox="1"/>
          <p:nvPr>
            <p:ph type="title"/>
          </p:nvPr>
        </p:nvSpPr>
        <p:spPr>
          <a:xfrm>
            <a:off x="3328025" y="147875"/>
            <a:ext cx="5551800" cy="759900"/>
          </a:xfrm>
          <a:prstGeom prst="rect">
            <a:avLst/>
          </a:prstGeom>
          <a:noFill/>
          <a:ln>
            <a:noFill/>
          </a:ln>
        </p:spPr>
        <p:txBody>
          <a:bodyPr anchorCtr="0" anchor="ctr" bIns="34275" lIns="68575" spcFirstLastPara="1" rIns="68575" wrap="square" tIns="34275">
            <a:normAutofit/>
          </a:bodyPr>
          <a:lstStyle>
            <a:lvl1pPr lvl="0" marR="0" algn="l">
              <a:lnSpc>
                <a:spcPct val="115000"/>
              </a:lnSpc>
              <a:spcBef>
                <a:spcPts val="0"/>
              </a:spcBef>
              <a:spcAft>
                <a:spcPts val="0"/>
              </a:spcAft>
              <a:buClr>
                <a:schemeClr val="dk1"/>
              </a:buClr>
              <a:buSzPts val="3000"/>
              <a:buFont typeface="Open Sans Light"/>
              <a:buNone/>
              <a:defRPr i="0" sz="3000" u="none" cap="none" strike="noStrike">
                <a:solidFill>
                  <a:schemeClr val="dk1"/>
                </a:solidFill>
                <a:latin typeface="Open Sans Light"/>
                <a:ea typeface="Open Sans Light"/>
                <a:cs typeface="Open Sans Light"/>
                <a:sym typeface="Open Sans Light"/>
              </a:defRPr>
            </a:lvl1pPr>
            <a:lvl2pPr lvl="1">
              <a:lnSpc>
                <a:spcPct val="115000"/>
              </a:lnSpc>
              <a:spcBef>
                <a:spcPts val="0"/>
              </a:spcBef>
              <a:spcAft>
                <a:spcPts val="0"/>
              </a:spcAft>
              <a:buSzPts val="1100"/>
              <a:buNone/>
              <a:defRPr sz="1400"/>
            </a:lvl2pPr>
            <a:lvl3pPr lvl="2">
              <a:lnSpc>
                <a:spcPct val="115000"/>
              </a:lnSpc>
              <a:spcBef>
                <a:spcPts val="0"/>
              </a:spcBef>
              <a:spcAft>
                <a:spcPts val="0"/>
              </a:spcAft>
              <a:buSzPts val="1100"/>
              <a:buNone/>
              <a:defRPr sz="1400"/>
            </a:lvl3pPr>
            <a:lvl4pPr lvl="3">
              <a:lnSpc>
                <a:spcPct val="115000"/>
              </a:lnSpc>
              <a:spcBef>
                <a:spcPts val="0"/>
              </a:spcBef>
              <a:spcAft>
                <a:spcPts val="0"/>
              </a:spcAft>
              <a:buSzPts val="1100"/>
              <a:buNone/>
              <a:defRPr sz="1400"/>
            </a:lvl4pPr>
            <a:lvl5pPr lvl="4">
              <a:lnSpc>
                <a:spcPct val="115000"/>
              </a:lnSpc>
              <a:spcBef>
                <a:spcPts val="0"/>
              </a:spcBef>
              <a:spcAft>
                <a:spcPts val="0"/>
              </a:spcAft>
              <a:buSzPts val="1100"/>
              <a:buNone/>
              <a:defRPr sz="1400"/>
            </a:lvl5pPr>
            <a:lvl6pPr lvl="5">
              <a:lnSpc>
                <a:spcPct val="115000"/>
              </a:lnSpc>
              <a:spcBef>
                <a:spcPts val="0"/>
              </a:spcBef>
              <a:spcAft>
                <a:spcPts val="0"/>
              </a:spcAft>
              <a:buSzPts val="1100"/>
              <a:buNone/>
              <a:defRPr sz="1400"/>
            </a:lvl6pPr>
            <a:lvl7pPr lvl="6">
              <a:lnSpc>
                <a:spcPct val="115000"/>
              </a:lnSpc>
              <a:spcBef>
                <a:spcPts val="0"/>
              </a:spcBef>
              <a:spcAft>
                <a:spcPts val="0"/>
              </a:spcAft>
              <a:buSzPts val="1100"/>
              <a:buNone/>
              <a:defRPr sz="1400"/>
            </a:lvl7pPr>
            <a:lvl8pPr lvl="7">
              <a:lnSpc>
                <a:spcPct val="115000"/>
              </a:lnSpc>
              <a:spcBef>
                <a:spcPts val="0"/>
              </a:spcBef>
              <a:spcAft>
                <a:spcPts val="0"/>
              </a:spcAft>
              <a:buSzPts val="1100"/>
              <a:buNone/>
              <a:defRPr sz="1400"/>
            </a:lvl8pPr>
            <a:lvl9pPr lvl="8">
              <a:lnSpc>
                <a:spcPct val="115000"/>
              </a:lnSpc>
              <a:spcBef>
                <a:spcPts val="0"/>
              </a:spcBef>
              <a:spcAft>
                <a:spcPts val="0"/>
              </a:spcAft>
              <a:buSzPts val="1100"/>
              <a:buNone/>
              <a:defRPr sz="1400"/>
            </a:lvl9pPr>
          </a:lstStyle>
          <a:p/>
        </p:txBody>
      </p:sp>
      <p:sp>
        <p:nvSpPr>
          <p:cNvPr id="28" name="Google Shape;28;p6"/>
          <p:cNvSpPr/>
          <p:nvPr>
            <p:ph idx="2" type="pic"/>
          </p:nvPr>
        </p:nvSpPr>
        <p:spPr>
          <a:xfrm>
            <a:off x="0" y="0"/>
            <a:ext cx="3063300" cy="4913100"/>
          </a:xfrm>
          <a:prstGeom prst="rect">
            <a:avLst/>
          </a:prstGeom>
          <a:noFill/>
          <a:ln>
            <a:noFill/>
          </a:ln>
        </p:spPr>
      </p:sp>
      <p:sp>
        <p:nvSpPr>
          <p:cNvPr id="29" name="Google Shape;29;p6"/>
          <p:cNvSpPr txBox="1"/>
          <p:nvPr>
            <p:ph idx="1" type="body"/>
          </p:nvPr>
        </p:nvSpPr>
        <p:spPr>
          <a:xfrm>
            <a:off x="3328075" y="975600"/>
            <a:ext cx="5551800" cy="3783300"/>
          </a:xfrm>
          <a:prstGeom prst="rect">
            <a:avLst/>
          </a:prstGeom>
        </p:spPr>
        <p:txBody>
          <a:bodyPr anchorCtr="0" anchor="t" bIns="34275" lIns="68575" spcFirstLastPara="1" rIns="68575" wrap="square" tIns="34275">
            <a:normAutofit/>
          </a:bodyPr>
          <a:lstStyle>
            <a:lvl1pPr indent="-381000" lvl="0" marL="457200">
              <a:spcBef>
                <a:spcPts val="1000"/>
              </a:spcBef>
              <a:spcAft>
                <a:spcPts val="0"/>
              </a:spcAft>
              <a:buSzPts val="2400"/>
              <a:buChar char="•"/>
              <a:defRPr/>
            </a:lvl1pPr>
            <a:lvl2pPr indent="-368300" lvl="1" marL="914400">
              <a:spcBef>
                <a:spcPts val="1000"/>
              </a:spcBef>
              <a:spcAft>
                <a:spcPts val="0"/>
              </a:spcAft>
              <a:buSzPts val="2200"/>
              <a:buChar char="–"/>
              <a:defRPr/>
            </a:lvl2pPr>
            <a:lvl3pPr indent="-355600" lvl="2" marL="1371600">
              <a:spcBef>
                <a:spcPts val="1000"/>
              </a:spcBef>
              <a:spcAft>
                <a:spcPts val="0"/>
              </a:spcAft>
              <a:buSzPts val="2000"/>
              <a:buChar char="•"/>
              <a:defRPr/>
            </a:lvl3pPr>
            <a:lvl4pPr indent="-342900" lvl="3" marL="1828800">
              <a:spcBef>
                <a:spcPts val="1000"/>
              </a:spcBef>
              <a:spcAft>
                <a:spcPts val="0"/>
              </a:spcAft>
              <a:buSzPts val="1800"/>
              <a:buChar char="–"/>
              <a:defRPr/>
            </a:lvl4pPr>
            <a:lvl5pPr indent="-330200" lvl="4" marL="2286000">
              <a:spcBef>
                <a:spcPts val="1000"/>
              </a:spcBef>
              <a:spcAft>
                <a:spcPts val="0"/>
              </a:spcAft>
              <a:buSzPts val="1600"/>
              <a:buChar char="»"/>
              <a:defRPr/>
            </a:lvl5pPr>
            <a:lvl6pPr indent="-317500" lvl="5" marL="2743200">
              <a:spcBef>
                <a:spcPts val="1000"/>
              </a:spcBef>
              <a:spcAft>
                <a:spcPts val="0"/>
              </a:spcAft>
              <a:buSzPts val="1400"/>
              <a:buChar char="•"/>
              <a:defRPr/>
            </a:lvl6pPr>
            <a:lvl7pPr indent="-317500" lvl="6" marL="3200400">
              <a:spcBef>
                <a:spcPts val="1000"/>
              </a:spcBef>
              <a:spcAft>
                <a:spcPts val="0"/>
              </a:spcAft>
              <a:buSzPts val="1400"/>
              <a:buChar char="•"/>
              <a:defRPr/>
            </a:lvl7pPr>
            <a:lvl8pPr indent="-317500" lvl="7" marL="3657600">
              <a:spcBef>
                <a:spcPts val="1000"/>
              </a:spcBef>
              <a:spcAft>
                <a:spcPts val="0"/>
              </a:spcAft>
              <a:buSzPts val="1400"/>
              <a:buChar char="•"/>
              <a:defRPr/>
            </a:lvl8pPr>
            <a:lvl9pPr indent="-317500" lvl="8" marL="4114800">
              <a:spcBef>
                <a:spcPts val="1000"/>
              </a:spcBef>
              <a:spcAft>
                <a:spcPts val="0"/>
              </a:spcAft>
              <a:buSzPts val="14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ight 2/3 Content">
  <p:cSld name="CUSTOM_1">
    <p:spTree>
      <p:nvGrpSpPr>
        <p:cNvPr id="30" name="Shape 30"/>
        <p:cNvGrpSpPr/>
        <p:nvPr/>
      </p:nvGrpSpPr>
      <p:grpSpPr>
        <a:xfrm>
          <a:off x="0" y="0"/>
          <a:ext cx="0" cy="0"/>
          <a:chOff x="0" y="0"/>
          <a:chExt cx="0" cy="0"/>
        </a:xfrm>
      </p:grpSpPr>
      <p:sp>
        <p:nvSpPr>
          <p:cNvPr id="31" name="Google Shape;31;p7"/>
          <p:cNvSpPr/>
          <p:nvPr>
            <p:ph idx="2" type="pic"/>
          </p:nvPr>
        </p:nvSpPr>
        <p:spPr>
          <a:xfrm>
            <a:off x="6080700" y="0"/>
            <a:ext cx="3063300" cy="4899900"/>
          </a:xfrm>
          <a:prstGeom prst="rect">
            <a:avLst/>
          </a:prstGeom>
          <a:noFill/>
          <a:ln>
            <a:noFill/>
          </a:ln>
        </p:spPr>
      </p:sp>
      <p:sp>
        <p:nvSpPr>
          <p:cNvPr id="32" name="Google Shape;32;p7"/>
          <p:cNvSpPr txBox="1"/>
          <p:nvPr>
            <p:ph idx="1" type="body"/>
          </p:nvPr>
        </p:nvSpPr>
        <p:spPr>
          <a:xfrm>
            <a:off x="376550" y="1006425"/>
            <a:ext cx="5373000" cy="3893700"/>
          </a:xfrm>
          <a:prstGeom prst="rect">
            <a:avLst/>
          </a:prstGeom>
        </p:spPr>
        <p:txBody>
          <a:bodyPr anchorCtr="0" anchor="t" bIns="34275" lIns="68575" spcFirstLastPara="1" rIns="68575" wrap="square" tIns="34275">
            <a:normAutofit/>
          </a:bodyPr>
          <a:lstStyle>
            <a:lvl1pPr indent="-381000" lvl="0" marL="457200">
              <a:spcBef>
                <a:spcPts val="0"/>
              </a:spcBef>
              <a:spcAft>
                <a:spcPts val="0"/>
              </a:spcAft>
              <a:buSzPts val="2400"/>
              <a:buChar char="•"/>
              <a:defRPr/>
            </a:lvl1pPr>
            <a:lvl2pPr indent="-368300" lvl="1" marL="914400">
              <a:spcBef>
                <a:spcPts val="1000"/>
              </a:spcBef>
              <a:spcAft>
                <a:spcPts val="0"/>
              </a:spcAft>
              <a:buSzPts val="2200"/>
              <a:buChar char="–"/>
              <a:defRPr/>
            </a:lvl2pPr>
            <a:lvl3pPr indent="-355600" lvl="2" marL="1371600">
              <a:spcBef>
                <a:spcPts val="1000"/>
              </a:spcBef>
              <a:spcAft>
                <a:spcPts val="0"/>
              </a:spcAft>
              <a:buSzPts val="2000"/>
              <a:buChar char="•"/>
              <a:defRPr/>
            </a:lvl3pPr>
            <a:lvl4pPr indent="-342900" lvl="3" marL="1828800">
              <a:spcBef>
                <a:spcPts val="1000"/>
              </a:spcBef>
              <a:spcAft>
                <a:spcPts val="0"/>
              </a:spcAft>
              <a:buSzPts val="1800"/>
              <a:buChar char="–"/>
              <a:defRPr/>
            </a:lvl4pPr>
            <a:lvl5pPr indent="-330200" lvl="4" marL="2286000">
              <a:spcBef>
                <a:spcPts val="1000"/>
              </a:spcBef>
              <a:spcAft>
                <a:spcPts val="0"/>
              </a:spcAft>
              <a:buSzPts val="1600"/>
              <a:buChar char="»"/>
              <a:defRPr/>
            </a:lvl5pPr>
            <a:lvl6pPr indent="-317500" lvl="5" marL="2743200">
              <a:spcBef>
                <a:spcPts val="1000"/>
              </a:spcBef>
              <a:spcAft>
                <a:spcPts val="0"/>
              </a:spcAft>
              <a:buSzPts val="1400"/>
              <a:buChar char="•"/>
              <a:defRPr/>
            </a:lvl6pPr>
            <a:lvl7pPr indent="-317500" lvl="6" marL="3200400">
              <a:spcBef>
                <a:spcPts val="1000"/>
              </a:spcBef>
              <a:spcAft>
                <a:spcPts val="0"/>
              </a:spcAft>
              <a:buSzPts val="1400"/>
              <a:buChar char="•"/>
              <a:defRPr/>
            </a:lvl7pPr>
            <a:lvl8pPr indent="-317500" lvl="7" marL="3657600">
              <a:spcBef>
                <a:spcPts val="1000"/>
              </a:spcBef>
              <a:spcAft>
                <a:spcPts val="0"/>
              </a:spcAft>
              <a:buSzPts val="1400"/>
              <a:buChar char="•"/>
              <a:defRPr/>
            </a:lvl8pPr>
            <a:lvl9pPr indent="-317500" lvl="8" marL="4114800">
              <a:spcBef>
                <a:spcPts val="1000"/>
              </a:spcBef>
              <a:spcAft>
                <a:spcPts val="1000"/>
              </a:spcAft>
              <a:buSzPts val="1400"/>
              <a:buChar char="•"/>
              <a:defRPr/>
            </a:lvl9pPr>
          </a:lstStyle>
          <a:p/>
        </p:txBody>
      </p:sp>
      <p:sp>
        <p:nvSpPr>
          <p:cNvPr id="33" name="Google Shape;33;p7"/>
          <p:cNvSpPr txBox="1"/>
          <p:nvPr>
            <p:ph type="title"/>
          </p:nvPr>
        </p:nvSpPr>
        <p:spPr>
          <a:xfrm>
            <a:off x="376550" y="147875"/>
            <a:ext cx="8310000" cy="759900"/>
          </a:xfrm>
          <a:prstGeom prst="rect">
            <a:avLst/>
          </a:prstGeom>
          <a:noFill/>
          <a:ln>
            <a:noFill/>
          </a:ln>
        </p:spPr>
        <p:txBody>
          <a:bodyPr anchorCtr="0" anchor="ctr" bIns="34275" lIns="68575" spcFirstLastPara="1" rIns="68575" wrap="square" tIns="34275">
            <a:normAutofit/>
          </a:bodyPr>
          <a:lstStyle>
            <a:lvl1pPr lvl="0" marR="0" algn="l">
              <a:lnSpc>
                <a:spcPct val="115000"/>
              </a:lnSpc>
              <a:spcBef>
                <a:spcPts val="0"/>
              </a:spcBef>
              <a:spcAft>
                <a:spcPts val="0"/>
              </a:spcAft>
              <a:buClr>
                <a:schemeClr val="dk1"/>
              </a:buClr>
              <a:buSzPts val="3000"/>
              <a:buFont typeface="Open Sans Light"/>
              <a:buNone/>
              <a:defRPr i="0" sz="3000" u="none" cap="none" strike="noStrike">
                <a:solidFill>
                  <a:schemeClr val="dk1"/>
                </a:solidFill>
                <a:latin typeface="Open Sans Light"/>
                <a:ea typeface="Open Sans Light"/>
                <a:cs typeface="Open Sans Light"/>
                <a:sym typeface="Open Sans Light"/>
              </a:defRPr>
            </a:lvl1pPr>
            <a:lvl2pPr lvl="1">
              <a:lnSpc>
                <a:spcPct val="115000"/>
              </a:lnSpc>
              <a:spcBef>
                <a:spcPts val="0"/>
              </a:spcBef>
              <a:spcAft>
                <a:spcPts val="0"/>
              </a:spcAft>
              <a:buSzPts val="1100"/>
              <a:buNone/>
              <a:defRPr sz="1400"/>
            </a:lvl2pPr>
            <a:lvl3pPr lvl="2">
              <a:lnSpc>
                <a:spcPct val="115000"/>
              </a:lnSpc>
              <a:spcBef>
                <a:spcPts val="0"/>
              </a:spcBef>
              <a:spcAft>
                <a:spcPts val="0"/>
              </a:spcAft>
              <a:buSzPts val="1100"/>
              <a:buNone/>
              <a:defRPr sz="1400"/>
            </a:lvl3pPr>
            <a:lvl4pPr lvl="3">
              <a:lnSpc>
                <a:spcPct val="115000"/>
              </a:lnSpc>
              <a:spcBef>
                <a:spcPts val="0"/>
              </a:spcBef>
              <a:spcAft>
                <a:spcPts val="0"/>
              </a:spcAft>
              <a:buSzPts val="1100"/>
              <a:buNone/>
              <a:defRPr sz="1400"/>
            </a:lvl4pPr>
            <a:lvl5pPr lvl="4">
              <a:lnSpc>
                <a:spcPct val="115000"/>
              </a:lnSpc>
              <a:spcBef>
                <a:spcPts val="0"/>
              </a:spcBef>
              <a:spcAft>
                <a:spcPts val="0"/>
              </a:spcAft>
              <a:buSzPts val="1100"/>
              <a:buNone/>
              <a:defRPr sz="1400"/>
            </a:lvl5pPr>
            <a:lvl6pPr lvl="5">
              <a:lnSpc>
                <a:spcPct val="115000"/>
              </a:lnSpc>
              <a:spcBef>
                <a:spcPts val="0"/>
              </a:spcBef>
              <a:spcAft>
                <a:spcPts val="0"/>
              </a:spcAft>
              <a:buSzPts val="1100"/>
              <a:buNone/>
              <a:defRPr sz="1400"/>
            </a:lvl6pPr>
            <a:lvl7pPr lvl="6">
              <a:lnSpc>
                <a:spcPct val="115000"/>
              </a:lnSpc>
              <a:spcBef>
                <a:spcPts val="0"/>
              </a:spcBef>
              <a:spcAft>
                <a:spcPts val="0"/>
              </a:spcAft>
              <a:buSzPts val="1100"/>
              <a:buNone/>
              <a:defRPr sz="1400"/>
            </a:lvl7pPr>
            <a:lvl8pPr lvl="7">
              <a:lnSpc>
                <a:spcPct val="115000"/>
              </a:lnSpc>
              <a:spcBef>
                <a:spcPts val="0"/>
              </a:spcBef>
              <a:spcAft>
                <a:spcPts val="0"/>
              </a:spcAft>
              <a:buSzPts val="1100"/>
              <a:buNone/>
              <a:defRPr sz="1400"/>
            </a:lvl8pPr>
            <a:lvl9pPr lvl="8">
              <a:lnSpc>
                <a:spcPct val="115000"/>
              </a:lnSpc>
              <a:spcBef>
                <a:spcPts val="0"/>
              </a:spcBef>
              <a:spcAft>
                <a:spcPts val="0"/>
              </a:spcAft>
              <a:buSzPts val="1100"/>
              <a:buNone/>
              <a:defRPr sz="14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Column Content">
  <p:cSld name="CUSTOM_2">
    <p:spTree>
      <p:nvGrpSpPr>
        <p:cNvPr id="34" name="Shape 34"/>
        <p:cNvGrpSpPr/>
        <p:nvPr/>
      </p:nvGrpSpPr>
      <p:grpSpPr>
        <a:xfrm>
          <a:off x="0" y="0"/>
          <a:ext cx="0" cy="0"/>
          <a:chOff x="0" y="0"/>
          <a:chExt cx="0" cy="0"/>
        </a:xfrm>
      </p:grpSpPr>
      <p:sp>
        <p:nvSpPr>
          <p:cNvPr id="35" name="Google Shape;35;p8"/>
          <p:cNvSpPr txBox="1"/>
          <p:nvPr>
            <p:ph type="title"/>
          </p:nvPr>
        </p:nvSpPr>
        <p:spPr>
          <a:xfrm>
            <a:off x="376550" y="147875"/>
            <a:ext cx="8310000" cy="759900"/>
          </a:xfrm>
          <a:prstGeom prst="rect">
            <a:avLst/>
          </a:prstGeom>
        </p:spPr>
        <p:txBody>
          <a:bodyPr anchorCtr="0" anchor="t" bIns="34275" lIns="68575" spcFirstLastPara="1" rIns="68575" wrap="square" tIns="34275">
            <a:normAutofit/>
          </a:bodyPr>
          <a:lstStyle>
            <a:lvl1pPr lvl="0">
              <a:spcBef>
                <a:spcPts val="0"/>
              </a:spcBef>
              <a:spcAft>
                <a:spcPts val="0"/>
              </a:spcAft>
              <a:buSzPts val="30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6" name="Google Shape;36;p8"/>
          <p:cNvSpPr txBox="1"/>
          <p:nvPr>
            <p:ph idx="1" type="body"/>
          </p:nvPr>
        </p:nvSpPr>
        <p:spPr>
          <a:xfrm>
            <a:off x="457200" y="875325"/>
            <a:ext cx="3602400" cy="3567900"/>
          </a:xfrm>
          <a:prstGeom prst="rect">
            <a:avLst/>
          </a:prstGeom>
        </p:spPr>
        <p:txBody>
          <a:bodyPr anchorCtr="0" anchor="t" bIns="34275" lIns="68575" spcFirstLastPara="1" rIns="68575" wrap="square" tIns="34275">
            <a:normAutofit/>
          </a:bodyPr>
          <a:lstStyle>
            <a:lvl1pPr indent="-381000" lvl="0" marL="457200">
              <a:spcBef>
                <a:spcPts val="0"/>
              </a:spcBef>
              <a:spcAft>
                <a:spcPts val="0"/>
              </a:spcAft>
              <a:buSzPts val="2400"/>
              <a:buChar char="•"/>
              <a:defRPr/>
            </a:lvl1pPr>
            <a:lvl2pPr indent="-368300" lvl="1" marL="914400">
              <a:spcBef>
                <a:spcPts val="1000"/>
              </a:spcBef>
              <a:spcAft>
                <a:spcPts val="0"/>
              </a:spcAft>
              <a:buSzPts val="2200"/>
              <a:buChar char="–"/>
              <a:defRPr/>
            </a:lvl2pPr>
            <a:lvl3pPr indent="-355600" lvl="2" marL="1371600">
              <a:spcBef>
                <a:spcPts val="1000"/>
              </a:spcBef>
              <a:spcAft>
                <a:spcPts val="0"/>
              </a:spcAft>
              <a:buSzPts val="2000"/>
              <a:buChar char="•"/>
              <a:defRPr/>
            </a:lvl3pPr>
            <a:lvl4pPr indent="-342900" lvl="3" marL="1828800">
              <a:spcBef>
                <a:spcPts val="1000"/>
              </a:spcBef>
              <a:spcAft>
                <a:spcPts val="0"/>
              </a:spcAft>
              <a:buSzPts val="1800"/>
              <a:buChar char="–"/>
              <a:defRPr/>
            </a:lvl4pPr>
            <a:lvl5pPr indent="-330200" lvl="4" marL="2286000">
              <a:spcBef>
                <a:spcPts val="1000"/>
              </a:spcBef>
              <a:spcAft>
                <a:spcPts val="0"/>
              </a:spcAft>
              <a:buSzPts val="1600"/>
              <a:buChar char="»"/>
              <a:defRPr/>
            </a:lvl5pPr>
            <a:lvl6pPr indent="-317500" lvl="5" marL="2743200">
              <a:spcBef>
                <a:spcPts val="1000"/>
              </a:spcBef>
              <a:spcAft>
                <a:spcPts val="0"/>
              </a:spcAft>
              <a:buSzPts val="1400"/>
              <a:buChar char="•"/>
              <a:defRPr/>
            </a:lvl6pPr>
            <a:lvl7pPr indent="-317500" lvl="6" marL="3200400">
              <a:spcBef>
                <a:spcPts val="1000"/>
              </a:spcBef>
              <a:spcAft>
                <a:spcPts val="0"/>
              </a:spcAft>
              <a:buSzPts val="1400"/>
              <a:buChar char="•"/>
              <a:defRPr/>
            </a:lvl7pPr>
            <a:lvl8pPr indent="-317500" lvl="7" marL="3657600">
              <a:spcBef>
                <a:spcPts val="1000"/>
              </a:spcBef>
              <a:spcAft>
                <a:spcPts val="0"/>
              </a:spcAft>
              <a:buSzPts val="1400"/>
              <a:buChar char="•"/>
              <a:defRPr/>
            </a:lvl8pPr>
            <a:lvl9pPr indent="-317500" lvl="8" marL="4114800">
              <a:spcBef>
                <a:spcPts val="1000"/>
              </a:spcBef>
              <a:spcAft>
                <a:spcPts val="1000"/>
              </a:spcAft>
              <a:buSzPts val="1400"/>
              <a:buChar char="•"/>
              <a:defRPr/>
            </a:lvl9pPr>
          </a:lstStyle>
          <a:p/>
        </p:txBody>
      </p:sp>
      <p:sp>
        <p:nvSpPr>
          <p:cNvPr id="37" name="Google Shape;37;p8"/>
          <p:cNvSpPr txBox="1"/>
          <p:nvPr>
            <p:ph idx="2" type="body"/>
          </p:nvPr>
        </p:nvSpPr>
        <p:spPr>
          <a:xfrm>
            <a:off x="4990000" y="875325"/>
            <a:ext cx="3696900" cy="3686100"/>
          </a:xfrm>
          <a:prstGeom prst="rect">
            <a:avLst/>
          </a:prstGeom>
        </p:spPr>
        <p:txBody>
          <a:bodyPr anchorCtr="0" anchor="t" bIns="34275" lIns="68575" spcFirstLastPara="1" rIns="68575" wrap="square" tIns="34275">
            <a:normAutofit/>
          </a:bodyPr>
          <a:lstStyle>
            <a:lvl1pPr indent="-381000" lvl="0" marL="457200">
              <a:spcBef>
                <a:spcPts val="0"/>
              </a:spcBef>
              <a:spcAft>
                <a:spcPts val="0"/>
              </a:spcAft>
              <a:buSzPts val="2400"/>
              <a:buChar char="•"/>
              <a:defRPr/>
            </a:lvl1pPr>
            <a:lvl2pPr indent="-368300" lvl="1" marL="914400">
              <a:spcBef>
                <a:spcPts val="1000"/>
              </a:spcBef>
              <a:spcAft>
                <a:spcPts val="0"/>
              </a:spcAft>
              <a:buSzPts val="2200"/>
              <a:buChar char="–"/>
              <a:defRPr/>
            </a:lvl2pPr>
            <a:lvl3pPr indent="-355600" lvl="2" marL="1371600">
              <a:spcBef>
                <a:spcPts val="1000"/>
              </a:spcBef>
              <a:spcAft>
                <a:spcPts val="0"/>
              </a:spcAft>
              <a:buSzPts val="2000"/>
              <a:buChar char="•"/>
              <a:defRPr/>
            </a:lvl3pPr>
            <a:lvl4pPr indent="-342900" lvl="3" marL="1828800">
              <a:spcBef>
                <a:spcPts val="1000"/>
              </a:spcBef>
              <a:spcAft>
                <a:spcPts val="0"/>
              </a:spcAft>
              <a:buSzPts val="1800"/>
              <a:buChar char="–"/>
              <a:defRPr/>
            </a:lvl4pPr>
            <a:lvl5pPr indent="-330200" lvl="4" marL="2286000">
              <a:spcBef>
                <a:spcPts val="1000"/>
              </a:spcBef>
              <a:spcAft>
                <a:spcPts val="0"/>
              </a:spcAft>
              <a:buSzPts val="1600"/>
              <a:buChar char="»"/>
              <a:defRPr/>
            </a:lvl5pPr>
            <a:lvl6pPr indent="-317500" lvl="5" marL="2743200">
              <a:spcBef>
                <a:spcPts val="1000"/>
              </a:spcBef>
              <a:spcAft>
                <a:spcPts val="0"/>
              </a:spcAft>
              <a:buSzPts val="1400"/>
              <a:buChar char="•"/>
              <a:defRPr/>
            </a:lvl6pPr>
            <a:lvl7pPr indent="-317500" lvl="6" marL="3200400">
              <a:spcBef>
                <a:spcPts val="1000"/>
              </a:spcBef>
              <a:spcAft>
                <a:spcPts val="0"/>
              </a:spcAft>
              <a:buSzPts val="1400"/>
              <a:buChar char="•"/>
              <a:defRPr/>
            </a:lvl7pPr>
            <a:lvl8pPr indent="-317500" lvl="7" marL="3657600">
              <a:spcBef>
                <a:spcPts val="1000"/>
              </a:spcBef>
              <a:spcAft>
                <a:spcPts val="0"/>
              </a:spcAft>
              <a:buSzPts val="1400"/>
              <a:buChar char="•"/>
              <a:defRPr/>
            </a:lvl8pPr>
            <a:lvl9pPr indent="-317500" lvl="8" marL="4114800">
              <a:spcBef>
                <a:spcPts val="1000"/>
              </a:spcBef>
              <a:spcAft>
                <a:spcPts val="1000"/>
              </a:spcAft>
              <a:buSzPts val="1400"/>
              <a:buChar char="•"/>
              <a:defRPr/>
            </a:lvl9pPr>
          </a:lstStyle>
          <a:p/>
        </p:txBody>
      </p:sp>
      <p:cxnSp>
        <p:nvCxnSpPr>
          <p:cNvPr id="38" name="Google Shape;38;p8"/>
          <p:cNvCxnSpPr/>
          <p:nvPr/>
        </p:nvCxnSpPr>
        <p:spPr>
          <a:xfrm>
            <a:off x="4572000" y="1052325"/>
            <a:ext cx="0" cy="3390900"/>
          </a:xfrm>
          <a:prstGeom prst="straightConnector1">
            <a:avLst/>
          </a:prstGeom>
          <a:noFill/>
          <a:ln cap="flat" cmpd="sng" w="9525">
            <a:solidFill>
              <a:srgbClr val="C51A41"/>
            </a:solidFill>
            <a:prstDash val="solid"/>
            <a:round/>
            <a:headEnd len="med" w="med" type="none"/>
            <a:tailEnd len="med" w="med"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9" name="Shape 39"/>
        <p:cNvGrpSpPr/>
        <p:nvPr/>
      </p:nvGrpSpPr>
      <p:grpSpPr>
        <a:xfrm>
          <a:off x="0" y="0"/>
          <a:ext cx="0" cy="0"/>
          <a:chOff x="0" y="0"/>
          <a:chExt cx="0" cy="0"/>
        </a:xfrm>
      </p:grpSpPr>
      <p:sp>
        <p:nvSpPr>
          <p:cNvPr id="40" name="Google Shape;40;p9"/>
          <p:cNvSpPr txBox="1"/>
          <p:nvPr>
            <p:ph type="ctrTitle"/>
          </p:nvPr>
        </p:nvSpPr>
        <p:spPr>
          <a:xfrm>
            <a:off x="685800" y="1597819"/>
            <a:ext cx="7772400" cy="11025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41" name="Google Shape;41;p9"/>
          <p:cNvSpPr txBox="1"/>
          <p:nvPr>
            <p:ph idx="1" type="subTitle"/>
          </p:nvPr>
        </p:nvSpPr>
        <p:spPr>
          <a:xfrm>
            <a:off x="1371600" y="2914650"/>
            <a:ext cx="6400800" cy="1314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1000"/>
              </a:spcBef>
              <a:spcAft>
                <a:spcPts val="0"/>
              </a:spcAft>
              <a:buClr>
                <a:srgbClr val="888888"/>
              </a:buClr>
              <a:buSzPts val="2800"/>
              <a:buNone/>
              <a:defRPr>
                <a:solidFill>
                  <a:srgbClr val="888888"/>
                </a:solidFill>
              </a:defRPr>
            </a:lvl2pPr>
            <a:lvl3pPr lvl="2" algn="ctr">
              <a:spcBef>
                <a:spcPts val="1000"/>
              </a:spcBef>
              <a:spcAft>
                <a:spcPts val="0"/>
              </a:spcAft>
              <a:buClr>
                <a:srgbClr val="888888"/>
              </a:buClr>
              <a:buSzPts val="2400"/>
              <a:buNone/>
              <a:defRPr>
                <a:solidFill>
                  <a:srgbClr val="888888"/>
                </a:solidFill>
              </a:defRPr>
            </a:lvl3pPr>
            <a:lvl4pPr lvl="3" algn="ctr">
              <a:spcBef>
                <a:spcPts val="1000"/>
              </a:spcBef>
              <a:spcAft>
                <a:spcPts val="0"/>
              </a:spcAft>
              <a:buClr>
                <a:srgbClr val="888888"/>
              </a:buClr>
              <a:buSzPts val="2000"/>
              <a:buNone/>
              <a:defRPr>
                <a:solidFill>
                  <a:srgbClr val="888888"/>
                </a:solidFill>
              </a:defRPr>
            </a:lvl4pPr>
            <a:lvl5pPr lvl="4" algn="ctr">
              <a:spcBef>
                <a:spcPts val="1000"/>
              </a:spcBef>
              <a:spcAft>
                <a:spcPts val="0"/>
              </a:spcAft>
              <a:buClr>
                <a:srgbClr val="888888"/>
              </a:buClr>
              <a:buSzPts val="2000"/>
              <a:buNone/>
              <a:defRPr>
                <a:solidFill>
                  <a:srgbClr val="888888"/>
                </a:solidFill>
              </a:defRPr>
            </a:lvl5pPr>
            <a:lvl6pPr lvl="5" algn="ctr">
              <a:spcBef>
                <a:spcPts val="1000"/>
              </a:spcBef>
              <a:spcAft>
                <a:spcPts val="0"/>
              </a:spcAft>
              <a:buClr>
                <a:srgbClr val="888888"/>
              </a:buClr>
              <a:buSzPts val="2000"/>
              <a:buNone/>
              <a:defRPr>
                <a:solidFill>
                  <a:srgbClr val="888888"/>
                </a:solidFill>
              </a:defRPr>
            </a:lvl6pPr>
            <a:lvl7pPr lvl="6" algn="ctr">
              <a:spcBef>
                <a:spcPts val="1000"/>
              </a:spcBef>
              <a:spcAft>
                <a:spcPts val="0"/>
              </a:spcAft>
              <a:buClr>
                <a:srgbClr val="888888"/>
              </a:buClr>
              <a:buSzPts val="2000"/>
              <a:buNone/>
              <a:defRPr>
                <a:solidFill>
                  <a:srgbClr val="888888"/>
                </a:solidFill>
              </a:defRPr>
            </a:lvl7pPr>
            <a:lvl8pPr lvl="7" algn="ctr">
              <a:spcBef>
                <a:spcPts val="1000"/>
              </a:spcBef>
              <a:spcAft>
                <a:spcPts val="0"/>
              </a:spcAft>
              <a:buClr>
                <a:srgbClr val="888888"/>
              </a:buClr>
              <a:buSzPts val="2000"/>
              <a:buNone/>
              <a:defRPr>
                <a:solidFill>
                  <a:srgbClr val="888888"/>
                </a:solidFill>
              </a:defRPr>
            </a:lvl8pPr>
            <a:lvl9pPr lvl="8" algn="ctr">
              <a:spcBef>
                <a:spcPts val="1000"/>
              </a:spcBef>
              <a:spcAft>
                <a:spcPts val="1000"/>
              </a:spcAft>
              <a:buClr>
                <a:srgbClr val="888888"/>
              </a:buClr>
              <a:buSzPts val="2000"/>
              <a:buNone/>
              <a:defRPr>
                <a:solidFill>
                  <a:srgbClr val="888888"/>
                </a:solidFill>
              </a:defRPr>
            </a:lvl9pPr>
          </a:lstStyle>
          <a:p/>
        </p:txBody>
      </p:sp>
      <p:sp>
        <p:nvSpPr>
          <p:cNvPr id="42" name="Google Shape;42;p9"/>
          <p:cNvSpPr txBox="1"/>
          <p:nvPr>
            <p:ph idx="12" type="sldNum"/>
          </p:nvPr>
        </p:nvSpPr>
        <p:spPr>
          <a:xfrm>
            <a:off x="7982222" y="4886307"/>
            <a:ext cx="704700" cy="273900"/>
          </a:xfrm>
          <a:prstGeom prst="rect">
            <a:avLst/>
          </a:prstGeom>
          <a:noFill/>
          <a:ln>
            <a:noFill/>
          </a:ln>
        </p:spPr>
        <p:txBody>
          <a:bodyPr anchorCtr="0" anchor="t" bIns="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3" name="Shape 43"/>
        <p:cNvGrpSpPr/>
        <p:nvPr/>
      </p:nvGrpSpPr>
      <p:grpSpPr>
        <a:xfrm>
          <a:off x="0" y="0"/>
          <a:ext cx="0" cy="0"/>
          <a:chOff x="0" y="0"/>
          <a:chExt cx="0" cy="0"/>
        </a:xfrm>
      </p:grpSpPr>
      <p:sp>
        <p:nvSpPr>
          <p:cNvPr id="44" name="Google Shape;44;p10"/>
          <p:cNvSpPr txBox="1"/>
          <p:nvPr>
            <p:ph type="title"/>
          </p:nvPr>
        </p:nvSpPr>
        <p:spPr>
          <a:xfrm>
            <a:off x="311700" y="445025"/>
            <a:ext cx="8520600" cy="572700"/>
          </a:xfrm>
          <a:prstGeom prst="rect">
            <a:avLst/>
          </a:prstGeom>
        </p:spPr>
        <p:txBody>
          <a:bodyPr anchorCtr="0" anchor="ctr" bIns="34275" lIns="68575" spcFirstLastPara="1" rIns="68575" wrap="square" tIns="34275">
            <a:normAutofit/>
          </a:bodyPr>
          <a:lstStyle>
            <a:lvl1pPr lvl="0">
              <a:spcBef>
                <a:spcPts val="0"/>
              </a:spcBef>
              <a:spcAft>
                <a:spcPts val="0"/>
              </a:spcAft>
              <a:buSzPts val="30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5" name="Google Shape;45;p10"/>
          <p:cNvSpPr txBox="1"/>
          <p:nvPr>
            <p:ph idx="1" type="body"/>
          </p:nvPr>
        </p:nvSpPr>
        <p:spPr>
          <a:xfrm>
            <a:off x="311700" y="1152475"/>
            <a:ext cx="8520600" cy="3416400"/>
          </a:xfrm>
          <a:prstGeom prst="rect">
            <a:avLst/>
          </a:prstGeom>
        </p:spPr>
        <p:txBody>
          <a:bodyPr anchorCtr="0" anchor="t" bIns="34275" lIns="68575" spcFirstLastPara="1" rIns="68575" wrap="square" tIns="34275">
            <a:normAutofit/>
          </a:bodyPr>
          <a:lstStyle>
            <a:lvl1pPr indent="-381000" lvl="0" marL="457200">
              <a:spcBef>
                <a:spcPts val="0"/>
              </a:spcBef>
              <a:spcAft>
                <a:spcPts val="0"/>
              </a:spcAft>
              <a:buSzPts val="2400"/>
              <a:buChar char="•"/>
              <a:defRPr/>
            </a:lvl1pPr>
            <a:lvl2pPr indent="-368300" lvl="1" marL="914400">
              <a:spcBef>
                <a:spcPts val="1000"/>
              </a:spcBef>
              <a:spcAft>
                <a:spcPts val="0"/>
              </a:spcAft>
              <a:buSzPts val="2200"/>
              <a:buChar char="–"/>
              <a:defRPr/>
            </a:lvl2pPr>
            <a:lvl3pPr indent="-355600" lvl="2" marL="1371600">
              <a:spcBef>
                <a:spcPts val="1000"/>
              </a:spcBef>
              <a:spcAft>
                <a:spcPts val="0"/>
              </a:spcAft>
              <a:buSzPts val="2000"/>
              <a:buChar char="•"/>
              <a:defRPr/>
            </a:lvl3pPr>
            <a:lvl4pPr indent="-342900" lvl="3" marL="1828800">
              <a:spcBef>
                <a:spcPts val="1000"/>
              </a:spcBef>
              <a:spcAft>
                <a:spcPts val="0"/>
              </a:spcAft>
              <a:buSzPts val="1800"/>
              <a:buChar char="–"/>
              <a:defRPr/>
            </a:lvl4pPr>
            <a:lvl5pPr indent="-330200" lvl="4" marL="2286000">
              <a:spcBef>
                <a:spcPts val="1000"/>
              </a:spcBef>
              <a:spcAft>
                <a:spcPts val="0"/>
              </a:spcAft>
              <a:buSzPts val="1600"/>
              <a:buChar char="»"/>
              <a:defRPr/>
            </a:lvl5pPr>
            <a:lvl6pPr indent="-317500" lvl="5" marL="2743200">
              <a:spcBef>
                <a:spcPts val="1000"/>
              </a:spcBef>
              <a:spcAft>
                <a:spcPts val="0"/>
              </a:spcAft>
              <a:buSzPts val="1400"/>
              <a:buChar char="•"/>
              <a:defRPr/>
            </a:lvl6pPr>
            <a:lvl7pPr indent="-317500" lvl="6" marL="3200400">
              <a:spcBef>
                <a:spcPts val="1000"/>
              </a:spcBef>
              <a:spcAft>
                <a:spcPts val="0"/>
              </a:spcAft>
              <a:buSzPts val="1400"/>
              <a:buChar char="•"/>
              <a:defRPr/>
            </a:lvl7pPr>
            <a:lvl8pPr indent="-317500" lvl="7" marL="3657600">
              <a:spcBef>
                <a:spcPts val="1000"/>
              </a:spcBef>
              <a:spcAft>
                <a:spcPts val="0"/>
              </a:spcAft>
              <a:buSzPts val="1400"/>
              <a:buChar char="•"/>
              <a:defRPr/>
            </a:lvl8pPr>
            <a:lvl9pPr indent="-317500" lvl="8" marL="4114800">
              <a:spcBef>
                <a:spcPts val="1000"/>
              </a:spcBef>
              <a:spcAft>
                <a:spcPts val="1000"/>
              </a:spcAft>
              <a:buSzPts val="1400"/>
              <a:buChar char="•"/>
              <a:defRPr/>
            </a:lvl9pPr>
          </a:lstStyle>
          <a:p/>
        </p:txBody>
      </p:sp>
      <p:sp>
        <p:nvSpPr>
          <p:cNvPr id="46" name="Google Shape;46;p10"/>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7" name="Shape 47"/>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rot="5400000">
            <a:off x="4455600" y="455028"/>
            <a:ext cx="232800" cy="9144000"/>
          </a:xfrm>
          <a:prstGeom prst="rect">
            <a:avLst/>
          </a:prstGeom>
          <a:solidFill>
            <a:srgbClr val="C51A4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7" name="Google Shape;7;p1"/>
          <p:cNvSpPr txBox="1"/>
          <p:nvPr>
            <p:ph type="title"/>
          </p:nvPr>
        </p:nvSpPr>
        <p:spPr>
          <a:xfrm>
            <a:off x="376550" y="147875"/>
            <a:ext cx="8310000" cy="759900"/>
          </a:xfrm>
          <a:prstGeom prst="rect">
            <a:avLst/>
          </a:prstGeom>
          <a:noFill/>
          <a:ln>
            <a:noFill/>
          </a:ln>
        </p:spPr>
        <p:txBody>
          <a:bodyPr anchorCtr="0" anchor="ctr" bIns="34275" lIns="68575" spcFirstLastPara="1" rIns="68575" wrap="square" tIns="34275">
            <a:normAutofit/>
          </a:bodyPr>
          <a:lstStyle>
            <a:lvl1pPr lvl="0" marR="0" rtl="0" algn="l">
              <a:lnSpc>
                <a:spcPct val="115000"/>
              </a:lnSpc>
              <a:spcBef>
                <a:spcPts val="0"/>
              </a:spcBef>
              <a:spcAft>
                <a:spcPts val="0"/>
              </a:spcAft>
              <a:buClr>
                <a:schemeClr val="dk1"/>
              </a:buClr>
              <a:buSzPts val="3000"/>
              <a:buFont typeface="Open Sans Light"/>
              <a:buNone/>
              <a:defRPr i="0" sz="3000" u="none" cap="none" strike="noStrike">
                <a:solidFill>
                  <a:schemeClr val="dk1"/>
                </a:solidFill>
                <a:latin typeface="Open Sans Light"/>
                <a:ea typeface="Open Sans Light"/>
                <a:cs typeface="Open Sans Light"/>
                <a:sym typeface="Open Sans Light"/>
              </a:defRPr>
            </a:lvl1pPr>
            <a:lvl2pPr lvl="1">
              <a:lnSpc>
                <a:spcPct val="115000"/>
              </a:lnSpc>
              <a:spcBef>
                <a:spcPts val="0"/>
              </a:spcBef>
              <a:spcAft>
                <a:spcPts val="0"/>
              </a:spcAft>
              <a:buSzPts val="1100"/>
              <a:buNone/>
              <a:defRPr sz="1400"/>
            </a:lvl2pPr>
            <a:lvl3pPr lvl="2">
              <a:lnSpc>
                <a:spcPct val="115000"/>
              </a:lnSpc>
              <a:spcBef>
                <a:spcPts val="0"/>
              </a:spcBef>
              <a:spcAft>
                <a:spcPts val="0"/>
              </a:spcAft>
              <a:buSzPts val="1100"/>
              <a:buNone/>
              <a:defRPr sz="1400"/>
            </a:lvl3pPr>
            <a:lvl4pPr lvl="3">
              <a:lnSpc>
                <a:spcPct val="115000"/>
              </a:lnSpc>
              <a:spcBef>
                <a:spcPts val="0"/>
              </a:spcBef>
              <a:spcAft>
                <a:spcPts val="0"/>
              </a:spcAft>
              <a:buSzPts val="1100"/>
              <a:buNone/>
              <a:defRPr sz="1400"/>
            </a:lvl4pPr>
            <a:lvl5pPr lvl="4">
              <a:lnSpc>
                <a:spcPct val="115000"/>
              </a:lnSpc>
              <a:spcBef>
                <a:spcPts val="0"/>
              </a:spcBef>
              <a:spcAft>
                <a:spcPts val="0"/>
              </a:spcAft>
              <a:buSzPts val="1100"/>
              <a:buNone/>
              <a:defRPr sz="1400"/>
            </a:lvl5pPr>
            <a:lvl6pPr lvl="5">
              <a:lnSpc>
                <a:spcPct val="115000"/>
              </a:lnSpc>
              <a:spcBef>
                <a:spcPts val="0"/>
              </a:spcBef>
              <a:spcAft>
                <a:spcPts val="0"/>
              </a:spcAft>
              <a:buSzPts val="1100"/>
              <a:buNone/>
              <a:defRPr sz="1400"/>
            </a:lvl6pPr>
            <a:lvl7pPr lvl="6">
              <a:lnSpc>
                <a:spcPct val="115000"/>
              </a:lnSpc>
              <a:spcBef>
                <a:spcPts val="0"/>
              </a:spcBef>
              <a:spcAft>
                <a:spcPts val="0"/>
              </a:spcAft>
              <a:buSzPts val="1100"/>
              <a:buNone/>
              <a:defRPr sz="1400"/>
            </a:lvl7pPr>
            <a:lvl8pPr lvl="7">
              <a:lnSpc>
                <a:spcPct val="115000"/>
              </a:lnSpc>
              <a:spcBef>
                <a:spcPts val="0"/>
              </a:spcBef>
              <a:spcAft>
                <a:spcPts val="0"/>
              </a:spcAft>
              <a:buSzPts val="1100"/>
              <a:buNone/>
              <a:defRPr sz="1400"/>
            </a:lvl8pPr>
            <a:lvl9pPr lvl="8">
              <a:lnSpc>
                <a:spcPct val="115000"/>
              </a:lnSpc>
              <a:spcBef>
                <a:spcPts val="0"/>
              </a:spcBef>
              <a:spcAft>
                <a:spcPts val="0"/>
              </a:spcAft>
              <a:buSzPts val="1100"/>
              <a:buNone/>
              <a:defRPr sz="1400"/>
            </a:lvl9pPr>
          </a:lstStyle>
          <a:p/>
        </p:txBody>
      </p:sp>
      <p:sp>
        <p:nvSpPr>
          <p:cNvPr id="8" name="Google Shape;8;p1"/>
          <p:cNvSpPr txBox="1"/>
          <p:nvPr>
            <p:ph idx="1" type="body"/>
          </p:nvPr>
        </p:nvSpPr>
        <p:spPr>
          <a:xfrm>
            <a:off x="376850" y="987925"/>
            <a:ext cx="8310000" cy="3607500"/>
          </a:xfrm>
          <a:prstGeom prst="rect">
            <a:avLst/>
          </a:prstGeom>
          <a:noFill/>
          <a:ln>
            <a:noFill/>
          </a:ln>
        </p:spPr>
        <p:txBody>
          <a:bodyPr anchorCtr="0" anchor="t" bIns="34275" lIns="68575" spcFirstLastPara="1" rIns="68575" wrap="square" tIns="34275">
            <a:normAutofit/>
          </a:bodyPr>
          <a:lstStyle>
            <a:lvl1pPr indent="-381000" lvl="0" marL="457200" marR="0" rtl="0" algn="l">
              <a:lnSpc>
                <a:spcPct val="115000"/>
              </a:lnSpc>
              <a:spcBef>
                <a:spcPts val="0"/>
              </a:spcBef>
              <a:spcAft>
                <a:spcPts val="0"/>
              </a:spcAft>
              <a:buClr>
                <a:schemeClr val="dk1"/>
              </a:buClr>
              <a:buSzPts val="2400"/>
              <a:buFont typeface="Open Sans"/>
              <a:buChar char="•"/>
              <a:defRPr i="0" sz="2400" u="none" cap="none" strike="noStrike">
                <a:solidFill>
                  <a:schemeClr val="dk1"/>
                </a:solidFill>
                <a:latin typeface="Open Sans"/>
                <a:ea typeface="Open Sans"/>
                <a:cs typeface="Open Sans"/>
                <a:sym typeface="Open Sans"/>
              </a:defRPr>
            </a:lvl1pPr>
            <a:lvl2pPr indent="-368300" lvl="1" marL="914400" marR="0" rtl="0" algn="l">
              <a:lnSpc>
                <a:spcPct val="115000"/>
              </a:lnSpc>
              <a:spcBef>
                <a:spcPts val="1000"/>
              </a:spcBef>
              <a:spcAft>
                <a:spcPts val="0"/>
              </a:spcAft>
              <a:buClr>
                <a:schemeClr val="dk1"/>
              </a:buClr>
              <a:buSzPts val="2200"/>
              <a:buFont typeface="Open Sans"/>
              <a:buChar char="–"/>
              <a:defRPr i="0" sz="2200" u="none" cap="none" strike="noStrike">
                <a:solidFill>
                  <a:schemeClr val="dk1"/>
                </a:solidFill>
                <a:latin typeface="Open Sans"/>
                <a:ea typeface="Open Sans"/>
                <a:cs typeface="Open Sans"/>
                <a:sym typeface="Open Sans"/>
              </a:defRPr>
            </a:lvl2pPr>
            <a:lvl3pPr indent="-355600" lvl="2" marL="1371600" marR="0" rtl="0" algn="l">
              <a:lnSpc>
                <a:spcPct val="115000"/>
              </a:lnSpc>
              <a:spcBef>
                <a:spcPts val="1000"/>
              </a:spcBef>
              <a:spcAft>
                <a:spcPts val="0"/>
              </a:spcAft>
              <a:buClr>
                <a:schemeClr val="dk1"/>
              </a:buClr>
              <a:buSzPts val="2000"/>
              <a:buFont typeface="Open Sans"/>
              <a:buChar char="•"/>
              <a:defRPr i="0" sz="2000" u="none" cap="none" strike="noStrike">
                <a:solidFill>
                  <a:schemeClr val="dk1"/>
                </a:solidFill>
                <a:latin typeface="Open Sans"/>
                <a:ea typeface="Open Sans"/>
                <a:cs typeface="Open Sans"/>
                <a:sym typeface="Open Sans"/>
              </a:defRPr>
            </a:lvl3pPr>
            <a:lvl4pPr indent="-342900" lvl="3" marL="1828800" marR="0" rtl="0" algn="l">
              <a:lnSpc>
                <a:spcPct val="115000"/>
              </a:lnSpc>
              <a:spcBef>
                <a:spcPts val="1000"/>
              </a:spcBef>
              <a:spcAft>
                <a:spcPts val="0"/>
              </a:spcAft>
              <a:buClr>
                <a:schemeClr val="dk1"/>
              </a:buClr>
              <a:buSzPts val="1800"/>
              <a:buFont typeface="Open Sans"/>
              <a:buChar char="–"/>
              <a:defRPr i="0" sz="1800" u="none" cap="none" strike="noStrike">
                <a:solidFill>
                  <a:schemeClr val="dk1"/>
                </a:solidFill>
                <a:latin typeface="Open Sans"/>
                <a:ea typeface="Open Sans"/>
                <a:cs typeface="Open Sans"/>
                <a:sym typeface="Open Sans"/>
              </a:defRPr>
            </a:lvl4pPr>
            <a:lvl5pPr indent="-330200" lvl="4" marL="2286000" marR="0" rtl="0" algn="l">
              <a:lnSpc>
                <a:spcPct val="115000"/>
              </a:lnSpc>
              <a:spcBef>
                <a:spcPts val="1000"/>
              </a:spcBef>
              <a:spcAft>
                <a:spcPts val="0"/>
              </a:spcAft>
              <a:buClr>
                <a:schemeClr val="dk1"/>
              </a:buClr>
              <a:buSzPts val="1600"/>
              <a:buFont typeface="Open Sans"/>
              <a:buChar char="»"/>
              <a:defRPr i="0" sz="1600" u="none" cap="none" strike="noStrike">
                <a:solidFill>
                  <a:schemeClr val="dk1"/>
                </a:solidFill>
                <a:latin typeface="Open Sans"/>
                <a:ea typeface="Open Sans"/>
                <a:cs typeface="Open Sans"/>
                <a:sym typeface="Open Sans"/>
              </a:defRPr>
            </a:lvl5pPr>
            <a:lvl6pPr indent="-317500" lvl="5" marL="2743200" marR="0" rtl="0" algn="l">
              <a:lnSpc>
                <a:spcPct val="115000"/>
              </a:lnSpc>
              <a:spcBef>
                <a:spcPts val="1000"/>
              </a:spcBef>
              <a:spcAft>
                <a:spcPts val="0"/>
              </a:spcAft>
              <a:buClr>
                <a:schemeClr val="dk1"/>
              </a:buClr>
              <a:buSzPts val="1400"/>
              <a:buFont typeface="Open Sans"/>
              <a:buChar char="•"/>
              <a:defRPr i="0" u="none" cap="none" strike="noStrike">
                <a:solidFill>
                  <a:schemeClr val="dk1"/>
                </a:solidFill>
                <a:latin typeface="Open Sans"/>
                <a:ea typeface="Open Sans"/>
                <a:cs typeface="Open Sans"/>
                <a:sym typeface="Open Sans"/>
              </a:defRPr>
            </a:lvl6pPr>
            <a:lvl7pPr indent="-317500" lvl="6" marL="3200400" marR="0" rtl="0" algn="l">
              <a:lnSpc>
                <a:spcPct val="115000"/>
              </a:lnSpc>
              <a:spcBef>
                <a:spcPts val="1000"/>
              </a:spcBef>
              <a:spcAft>
                <a:spcPts val="0"/>
              </a:spcAft>
              <a:buClr>
                <a:schemeClr val="dk1"/>
              </a:buClr>
              <a:buSzPts val="1400"/>
              <a:buFont typeface="Open Sans"/>
              <a:buChar char="•"/>
              <a:defRPr i="0" u="none" cap="none" strike="noStrike">
                <a:solidFill>
                  <a:schemeClr val="dk1"/>
                </a:solidFill>
                <a:latin typeface="Open Sans"/>
                <a:ea typeface="Open Sans"/>
                <a:cs typeface="Open Sans"/>
                <a:sym typeface="Open Sans"/>
              </a:defRPr>
            </a:lvl7pPr>
            <a:lvl8pPr indent="-317500" lvl="7" marL="3657600" marR="0" rtl="0" algn="l">
              <a:lnSpc>
                <a:spcPct val="115000"/>
              </a:lnSpc>
              <a:spcBef>
                <a:spcPts val="1000"/>
              </a:spcBef>
              <a:spcAft>
                <a:spcPts val="0"/>
              </a:spcAft>
              <a:buClr>
                <a:schemeClr val="dk1"/>
              </a:buClr>
              <a:buSzPts val="1400"/>
              <a:buFont typeface="Open Sans"/>
              <a:buChar char="•"/>
              <a:defRPr i="0" u="none" cap="none" strike="noStrike">
                <a:solidFill>
                  <a:schemeClr val="dk1"/>
                </a:solidFill>
                <a:latin typeface="Open Sans"/>
                <a:ea typeface="Open Sans"/>
                <a:cs typeface="Open Sans"/>
                <a:sym typeface="Open Sans"/>
              </a:defRPr>
            </a:lvl8pPr>
            <a:lvl9pPr indent="-317500" lvl="8" marL="4114800" marR="0" rtl="0" algn="l">
              <a:lnSpc>
                <a:spcPct val="115000"/>
              </a:lnSpc>
              <a:spcBef>
                <a:spcPts val="1000"/>
              </a:spcBef>
              <a:spcAft>
                <a:spcPts val="1000"/>
              </a:spcAft>
              <a:buClr>
                <a:schemeClr val="dk1"/>
              </a:buClr>
              <a:buSzPts val="1400"/>
              <a:buFont typeface="Open Sans"/>
              <a:buChar char="•"/>
              <a:defRPr i="0" u="none" cap="none" strike="noStrike">
                <a:solidFill>
                  <a:schemeClr val="dk1"/>
                </a:solidFill>
                <a:latin typeface="Open Sans"/>
                <a:ea typeface="Open Sans"/>
                <a:cs typeface="Open Sans"/>
                <a:sym typeface="Open Sans"/>
              </a:defRPr>
            </a:lvl9pPr>
          </a:lstStyle>
          <a:p/>
        </p:txBody>
      </p:sp>
      <p:sp>
        <p:nvSpPr>
          <p:cNvPr id="9" name="Google Shape;9;p1"/>
          <p:cNvSpPr txBox="1"/>
          <p:nvPr>
            <p:ph idx="12" type="sldNum"/>
          </p:nvPr>
        </p:nvSpPr>
        <p:spPr>
          <a:xfrm>
            <a:off x="8175125" y="4616075"/>
            <a:ext cx="854700" cy="27390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i="0" sz="1000" u="none" cap="none" strike="noStrike">
                <a:solidFill>
                  <a:srgbClr val="888888"/>
                </a:solidFill>
                <a:latin typeface="Open Sans Light"/>
                <a:ea typeface="Open Sans Light"/>
                <a:cs typeface="Open Sans Light"/>
                <a:sym typeface="Open Sans Light"/>
              </a:defRPr>
            </a:lvl1pPr>
            <a:lvl2pPr indent="0" lvl="1" marL="0" marR="0" rtl="0" algn="r">
              <a:spcBef>
                <a:spcPts val="0"/>
              </a:spcBef>
              <a:buNone/>
              <a:defRPr i="0" sz="1000" u="none" cap="none" strike="noStrike">
                <a:solidFill>
                  <a:srgbClr val="888888"/>
                </a:solidFill>
                <a:latin typeface="Open Sans Light"/>
                <a:ea typeface="Open Sans Light"/>
                <a:cs typeface="Open Sans Light"/>
                <a:sym typeface="Open Sans Light"/>
              </a:defRPr>
            </a:lvl2pPr>
            <a:lvl3pPr indent="0" lvl="2" marL="0" marR="0" rtl="0" algn="r">
              <a:spcBef>
                <a:spcPts val="0"/>
              </a:spcBef>
              <a:buNone/>
              <a:defRPr i="0" sz="1000" u="none" cap="none" strike="noStrike">
                <a:solidFill>
                  <a:srgbClr val="888888"/>
                </a:solidFill>
                <a:latin typeface="Open Sans Light"/>
                <a:ea typeface="Open Sans Light"/>
                <a:cs typeface="Open Sans Light"/>
                <a:sym typeface="Open Sans Light"/>
              </a:defRPr>
            </a:lvl3pPr>
            <a:lvl4pPr indent="0" lvl="3" marL="0" marR="0" rtl="0" algn="r">
              <a:spcBef>
                <a:spcPts val="0"/>
              </a:spcBef>
              <a:buNone/>
              <a:defRPr i="0" sz="1000" u="none" cap="none" strike="noStrike">
                <a:solidFill>
                  <a:srgbClr val="888888"/>
                </a:solidFill>
                <a:latin typeface="Open Sans Light"/>
                <a:ea typeface="Open Sans Light"/>
                <a:cs typeface="Open Sans Light"/>
                <a:sym typeface="Open Sans Light"/>
              </a:defRPr>
            </a:lvl4pPr>
            <a:lvl5pPr indent="0" lvl="4" marL="0" marR="0" rtl="0" algn="r">
              <a:spcBef>
                <a:spcPts val="0"/>
              </a:spcBef>
              <a:buNone/>
              <a:defRPr i="0" sz="1000" u="none" cap="none" strike="noStrike">
                <a:solidFill>
                  <a:srgbClr val="888888"/>
                </a:solidFill>
                <a:latin typeface="Open Sans Light"/>
                <a:ea typeface="Open Sans Light"/>
                <a:cs typeface="Open Sans Light"/>
                <a:sym typeface="Open Sans Light"/>
              </a:defRPr>
            </a:lvl5pPr>
            <a:lvl6pPr indent="0" lvl="5" marL="0" marR="0" rtl="0" algn="r">
              <a:spcBef>
                <a:spcPts val="0"/>
              </a:spcBef>
              <a:buNone/>
              <a:defRPr i="0" sz="1000" u="none" cap="none" strike="noStrike">
                <a:solidFill>
                  <a:srgbClr val="888888"/>
                </a:solidFill>
                <a:latin typeface="Open Sans Light"/>
                <a:ea typeface="Open Sans Light"/>
                <a:cs typeface="Open Sans Light"/>
                <a:sym typeface="Open Sans Light"/>
              </a:defRPr>
            </a:lvl6pPr>
            <a:lvl7pPr indent="0" lvl="6" marL="0" marR="0" rtl="0" algn="r">
              <a:spcBef>
                <a:spcPts val="0"/>
              </a:spcBef>
              <a:buNone/>
              <a:defRPr i="0" sz="1000" u="none" cap="none" strike="noStrike">
                <a:solidFill>
                  <a:srgbClr val="888888"/>
                </a:solidFill>
                <a:latin typeface="Open Sans Light"/>
                <a:ea typeface="Open Sans Light"/>
                <a:cs typeface="Open Sans Light"/>
                <a:sym typeface="Open Sans Light"/>
              </a:defRPr>
            </a:lvl7pPr>
            <a:lvl8pPr indent="0" lvl="7" marL="0" marR="0" rtl="0" algn="r">
              <a:spcBef>
                <a:spcPts val="0"/>
              </a:spcBef>
              <a:buNone/>
              <a:defRPr i="0" sz="1000" u="none" cap="none" strike="noStrike">
                <a:solidFill>
                  <a:srgbClr val="888888"/>
                </a:solidFill>
                <a:latin typeface="Open Sans Light"/>
                <a:ea typeface="Open Sans Light"/>
                <a:cs typeface="Open Sans Light"/>
                <a:sym typeface="Open Sans Light"/>
              </a:defRPr>
            </a:lvl8pPr>
            <a:lvl9pPr indent="0" lvl="8" marL="0" marR="0" rtl="0" algn="r">
              <a:spcBef>
                <a:spcPts val="0"/>
              </a:spcBef>
              <a:buNone/>
              <a:defRPr i="0" sz="1000" u="none" cap="none" strike="noStrike">
                <a:solidFill>
                  <a:srgbClr val="888888"/>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GB"/>
              <a:t>‹#›</a:t>
            </a:fld>
            <a:endParaRPr/>
          </a:p>
        </p:txBody>
      </p:sp>
      <p:sp>
        <p:nvSpPr>
          <p:cNvPr id="10" name="Google Shape;10;p1"/>
          <p:cNvSpPr txBox="1"/>
          <p:nvPr/>
        </p:nvSpPr>
        <p:spPr>
          <a:xfrm>
            <a:off x="6474250" y="4938050"/>
            <a:ext cx="2670000" cy="16170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b="0" i="0" lang="en-GB" sz="600" u="none" cap="none" strike="noStrike">
                <a:solidFill>
                  <a:srgbClr val="FFFFFF"/>
                </a:solidFill>
                <a:latin typeface="Arial"/>
                <a:ea typeface="Arial"/>
                <a:cs typeface="Arial"/>
                <a:sym typeface="Arial"/>
              </a:rPr>
              <a:t>Copyright © 202</a:t>
            </a:r>
            <a:r>
              <a:rPr lang="en-GB" sz="600">
                <a:solidFill>
                  <a:srgbClr val="FFFFFF"/>
                </a:solidFill>
              </a:rPr>
              <a:t>6</a:t>
            </a:r>
            <a:r>
              <a:rPr b="0" i="0" lang="en-GB" sz="600" u="none" cap="none" strike="noStrike">
                <a:solidFill>
                  <a:srgbClr val="FFFFFF"/>
                </a:solidFill>
                <a:latin typeface="Arial"/>
                <a:ea typeface="Arial"/>
                <a:cs typeface="Arial"/>
                <a:sym typeface="Arial"/>
              </a:rPr>
              <a:t xml:space="preserve"> Nanyang Technological University. All rights reserved. </a:t>
            </a:r>
            <a:endParaRPr sz="600">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9.jpg"/><Relationship Id="rId4" Type="http://schemas.openxmlformats.org/officeDocument/2006/relationships/image" Target="../media/image3.png"/></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3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6.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pic>
        <p:nvPicPr>
          <p:cNvPr descr="A building with a balcony and trees  Description automatically generated" id="53" name="Google Shape;53;p12"/>
          <p:cNvPicPr preferRelativeResize="0"/>
          <p:nvPr/>
        </p:nvPicPr>
        <p:blipFill rotWithShape="1">
          <a:blip r:embed="rId3">
            <a:alphaModFix/>
          </a:blip>
          <a:srcRect b="0" l="0" r="33271" t="0"/>
          <a:stretch/>
        </p:blipFill>
        <p:spPr>
          <a:xfrm>
            <a:off x="4629241" y="0"/>
            <a:ext cx="4572001" cy="5143501"/>
          </a:xfrm>
          <a:prstGeom prst="rect">
            <a:avLst/>
          </a:prstGeom>
          <a:noFill/>
          <a:ln>
            <a:noFill/>
          </a:ln>
        </p:spPr>
      </p:pic>
      <p:sp>
        <p:nvSpPr>
          <p:cNvPr id="54" name="Google Shape;54;p12"/>
          <p:cNvSpPr/>
          <p:nvPr/>
        </p:nvSpPr>
        <p:spPr>
          <a:xfrm>
            <a:off x="4629240" y="4339244"/>
            <a:ext cx="4572000" cy="804300"/>
          </a:xfrm>
          <a:prstGeom prst="rect">
            <a:avLst/>
          </a:prstGeom>
          <a:solidFill>
            <a:srgbClr val="181C62">
              <a:alpha val="8000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5" name="Google Shape;55;p12"/>
          <p:cNvSpPr/>
          <p:nvPr/>
        </p:nvSpPr>
        <p:spPr>
          <a:xfrm>
            <a:off x="0" y="4339244"/>
            <a:ext cx="4629300" cy="804300"/>
          </a:xfrm>
          <a:prstGeom prst="rect">
            <a:avLst/>
          </a:prstGeom>
          <a:solidFill>
            <a:srgbClr val="181C6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6" name="Google Shape;56;p12"/>
          <p:cNvSpPr/>
          <p:nvPr/>
        </p:nvSpPr>
        <p:spPr>
          <a:xfrm>
            <a:off x="1" y="0"/>
            <a:ext cx="342900" cy="5143500"/>
          </a:xfrm>
          <a:prstGeom prst="rect">
            <a:avLst/>
          </a:prstGeom>
          <a:solidFill>
            <a:srgbClr val="C51A4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7" name="Google Shape;57;p12"/>
          <p:cNvSpPr txBox="1"/>
          <p:nvPr/>
        </p:nvSpPr>
        <p:spPr>
          <a:xfrm>
            <a:off x="565475" y="1649875"/>
            <a:ext cx="3631800" cy="996900"/>
          </a:xfrm>
          <a:prstGeom prst="rect">
            <a:avLst/>
          </a:prstGeom>
          <a:noFill/>
          <a:ln>
            <a:noFill/>
          </a:ln>
        </p:spPr>
        <p:txBody>
          <a:bodyPr anchorCtr="0" anchor="ctr" bIns="34275" lIns="67500" spcFirstLastPara="1" rIns="68575" wrap="square" tIns="34275">
            <a:noAutofit/>
          </a:bodyPr>
          <a:lstStyle/>
          <a:p>
            <a:pPr indent="0" lvl="0" marL="0" marR="0" rtl="0" algn="l">
              <a:lnSpc>
                <a:spcPct val="115000"/>
              </a:lnSpc>
              <a:spcBef>
                <a:spcPts val="0"/>
              </a:spcBef>
              <a:spcAft>
                <a:spcPts val="0"/>
              </a:spcAft>
              <a:buClr>
                <a:srgbClr val="181C62"/>
              </a:buClr>
              <a:buSzPts val="3000"/>
              <a:buFont typeface="Open Sans Light"/>
              <a:buNone/>
            </a:pPr>
            <a:r>
              <a:rPr lang="en-GB" sz="2400">
                <a:solidFill>
                  <a:srgbClr val="181C62"/>
                </a:solidFill>
                <a:latin typeface="Open Sans Light"/>
                <a:ea typeface="Open Sans Light"/>
                <a:cs typeface="Open Sans Light"/>
                <a:sym typeface="Open Sans Light"/>
              </a:rPr>
              <a:t>(SCTP) Advanced Professional Certificate</a:t>
            </a:r>
            <a:endParaRPr sz="2400"/>
          </a:p>
        </p:txBody>
      </p:sp>
      <p:sp>
        <p:nvSpPr>
          <p:cNvPr id="58" name="Google Shape;58;p12"/>
          <p:cNvSpPr txBox="1"/>
          <p:nvPr/>
        </p:nvSpPr>
        <p:spPr>
          <a:xfrm>
            <a:off x="562516" y="2571750"/>
            <a:ext cx="3892200" cy="604500"/>
          </a:xfrm>
          <a:prstGeom prst="rect">
            <a:avLst/>
          </a:prstGeom>
          <a:noFill/>
          <a:ln>
            <a:noFill/>
          </a:ln>
        </p:spPr>
        <p:txBody>
          <a:bodyPr anchorCtr="0" anchor="ctr" bIns="34275" lIns="67500" spcFirstLastPara="1" rIns="68575" wrap="square" tIns="34275">
            <a:normAutofit/>
          </a:bodyPr>
          <a:lstStyle/>
          <a:p>
            <a:pPr indent="0" lvl="0" marL="0" marR="0" rtl="0" algn="l">
              <a:lnSpc>
                <a:spcPct val="100000"/>
              </a:lnSpc>
              <a:spcBef>
                <a:spcPts val="0"/>
              </a:spcBef>
              <a:spcAft>
                <a:spcPts val="0"/>
              </a:spcAft>
              <a:buClr>
                <a:srgbClr val="181C62"/>
              </a:buClr>
              <a:buSzPts val="1500"/>
              <a:buFont typeface="Open Sans"/>
              <a:buNone/>
            </a:pPr>
            <a:r>
              <a:t/>
            </a:r>
            <a:endParaRPr sz="1100"/>
          </a:p>
          <a:p>
            <a:pPr indent="0" lvl="0" marL="0" marR="0" rtl="0" algn="l">
              <a:lnSpc>
                <a:spcPct val="100000"/>
              </a:lnSpc>
              <a:spcBef>
                <a:spcPts val="0"/>
              </a:spcBef>
              <a:spcAft>
                <a:spcPts val="0"/>
              </a:spcAft>
              <a:buClr>
                <a:srgbClr val="181C62"/>
              </a:buClr>
              <a:buSzPts val="1500"/>
              <a:buFont typeface="Open Sans"/>
              <a:buNone/>
            </a:pPr>
            <a:r>
              <a:rPr b="1" lang="en-GB" sz="2400">
                <a:solidFill>
                  <a:srgbClr val="181C62"/>
                </a:solidFill>
                <a:latin typeface="Open Sans"/>
                <a:ea typeface="Open Sans"/>
                <a:cs typeface="Open Sans"/>
                <a:sym typeface="Open Sans"/>
              </a:rPr>
              <a:t>Data Science and AI</a:t>
            </a:r>
            <a:endParaRPr b="1" sz="2400">
              <a:solidFill>
                <a:srgbClr val="181C62"/>
              </a:solidFill>
              <a:latin typeface="Open Sans"/>
              <a:ea typeface="Open Sans"/>
              <a:cs typeface="Open Sans"/>
              <a:sym typeface="Open Sans"/>
            </a:endParaRPr>
          </a:p>
        </p:txBody>
      </p:sp>
      <p:pic>
        <p:nvPicPr>
          <p:cNvPr id="59" name="Google Shape;59;p12"/>
          <p:cNvPicPr preferRelativeResize="0"/>
          <p:nvPr/>
        </p:nvPicPr>
        <p:blipFill rotWithShape="1">
          <a:blip r:embed="rId4">
            <a:alphaModFix/>
          </a:blip>
          <a:srcRect b="33662" l="0" r="0" t="30759"/>
          <a:stretch/>
        </p:blipFill>
        <p:spPr>
          <a:xfrm>
            <a:off x="342900" y="0"/>
            <a:ext cx="4263655" cy="9968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76" name="Shape 76"/>
        <p:cNvGrpSpPr/>
        <p:nvPr/>
      </p:nvGrpSpPr>
      <p:grpSpPr>
        <a:xfrm>
          <a:off x="0" y="0"/>
          <a:ext cx="0" cy="0"/>
          <a:chOff x="0" y="0"/>
          <a:chExt cx="0" cy="0"/>
        </a:xfrm>
      </p:grpSpPr>
      <p:sp>
        <p:nvSpPr>
          <p:cNvPr id="77" name="Google Shape;77;p15"/>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Open Sans"/>
              <a:ea typeface="Open Sans"/>
              <a:cs typeface="Open Sans"/>
              <a:sym typeface="Open Sans"/>
            </a:endParaRPr>
          </a:p>
        </p:txBody>
      </p:sp>
      <p:sp>
        <p:nvSpPr>
          <p:cNvPr id="78" name="Google Shape;78;p15"/>
          <p:cNvSpPr/>
          <p:nvPr/>
        </p:nvSpPr>
        <p:spPr>
          <a:xfrm>
            <a:off x="411480" y="994410"/>
            <a:ext cx="8229600" cy="2742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8102E"/>
              </a:buClr>
              <a:buSzPts val="1300"/>
              <a:buFont typeface="Open Sans"/>
              <a:buNone/>
            </a:pPr>
            <a:r>
              <a:rPr b="1" lang="en-GB" sz="1300">
                <a:solidFill>
                  <a:schemeClr val="lt1"/>
                </a:solidFill>
                <a:latin typeface="Open Sans"/>
                <a:ea typeface="Open Sans"/>
                <a:cs typeface="Open Sans"/>
                <a:sym typeface="Open Sans"/>
              </a:rPr>
              <a:t>Module 3  ·  Machine Learning &amp; GenAI</a:t>
            </a:r>
            <a:endParaRPr sz="1100">
              <a:solidFill>
                <a:schemeClr val="lt1"/>
              </a:solidFill>
            </a:endParaRPr>
          </a:p>
        </p:txBody>
      </p:sp>
      <p:sp>
        <p:nvSpPr>
          <p:cNvPr id="79" name="Google Shape;79;p15"/>
          <p:cNvSpPr/>
          <p:nvPr/>
        </p:nvSpPr>
        <p:spPr>
          <a:xfrm>
            <a:off x="411480" y="1440180"/>
            <a:ext cx="8229600" cy="68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8102E"/>
              </a:buClr>
              <a:buSzPts val="5400"/>
              <a:buFont typeface="Open Sans"/>
              <a:buNone/>
            </a:pPr>
            <a:r>
              <a:rPr lang="en-GB" sz="5400">
                <a:solidFill>
                  <a:schemeClr val="accent6"/>
                </a:solidFill>
                <a:latin typeface="Open Sans"/>
                <a:ea typeface="Open Sans"/>
                <a:cs typeface="Open Sans"/>
                <a:sym typeface="Open Sans"/>
              </a:rPr>
              <a:t>L03</a:t>
            </a:r>
            <a:endParaRPr sz="1100">
              <a:solidFill>
                <a:schemeClr val="accent6"/>
              </a:solidFill>
            </a:endParaRPr>
          </a:p>
        </p:txBody>
      </p:sp>
      <p:sp>
        <p:nvSpPr>
          <p:cNvPr id="80" name="Google Shape;80;p15"/>
          <p:cNvSpPr/>
          <p:nvPr/>
        </p:nvSpPr>
        <p:spPr>
          <a:xfrm>
            <a:off x="411480" y="2125980"/>
            <a:ext cx="8229600" cy="20574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FFFFFF"/>
              </a:buClr>
              <a:buSzPts val="5300"/>
              <a:buFont typeface="Open Sans"/>
              <a:buNone/>
            </a:pPr>
            <a:r>
              <a:rPr lang="en-GB" sz="5300">
                <a:solidFill>
                  <a:srgbClr val="FFFFFF"/>
                </a:solidFill>
                <a:latin typeface="Open Sans"/>
                <a:ea typeface="Open Sans"/>
                <a:cs typeface="Open Sans"/>
                <a:sym typeface="Open Sans"/>
              </a:rPr>
              <a:t>Supervised</a:t>
            </a:r>
            <a:br>
              <a:rPr lang="en-GB" sz="5300">
                <a:solidFill>
                  <a:srgbClr val="FFFFFF"/>
                </a:solidFill>
                <a:latin typeface="Open Sans"/>
                <a:ea typeface="Open Sans"/>
                <a:cs typeface="Open Sans"/>
                <a:sym typeface="Open Sans"/>
              </a:rPr>
            </a:br>
            <a:r>
              <a:rPr b="1" lang="en-GB" sz="5300">
                <a:solidFill>
                  <a:schemeClr val="accent6"/>
                </a:solidFill>
                <a:latin typeface="Open Sans"/>
                <a:ea typeface="Open Sans"/>
                <a:cs typeface="Open Sans"/>
                <a:sym typeface="Open Sans"/>
              </a:rPr>
              <a:t>Learning Foundations</a:t>
            </a:r>
            <a:endParaRPr sz="1100">
              <a:solidFill>
                <a:schemeClr val="accent6"/>
              </a:solidFill>
            </a:endParaRPr>
          </a:p>
        </p:txBody>
      </p:sp>
      <p:sp>
        <p:nvSpPr>
          <p:cNvPr id="81" name="Google Shape;81;p15"/>
          <p:cNvSpPr/>
          <p:nvPr/>
        </p:nvSpPr>
        <p:spPr>
          <a:xfrm>
            <a:off x="411480" y="4114800"/>
            <a:ext cx="82296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700"/>
              <a:buFont typeface="Open Sans"/>
              <a:buNone/>
            </a:pPr>
            <a:r>
              <a:rPr i="1" lang="en-GB" sz="1700">
                <a:solidFill>
                  <a:srgbClr val="FFFFFF"/>
                </a:solidFill>
                <a:latin typeface="Open Sans"/>
                <a:ea typeface="Open Sans"/>
                <a:cs typeface="Open Sans"/>
                <a:sym typeface="Open Sans"/>
              </a:rPr>
              <a:t>Sarah trains her first model on NorthStar's own data</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6"/>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Open Sans"/>
              <a:ea typeface="Open Sans"/>
              <a:cs typeface="Open Sans"/>
              <a:sym typeface="Open Sans"/>
            </a:endParaRPr>
          </a:p>
        </p:txBody>
      </p:sp>
      <p:sp>
        <p:nvSpPr>
          <p:cNvPr id="88" name="Google Shape;88;p16"/>
          <p:cNvSpPr/>
          <p:nvPr/>
        </p:nvSpPr>
        <p:spPr>
          <a:xfrm>
            <a:off x="0" y="0"/>
            <a:ext cx="9143700" cy="1098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89" name="Google Shape;89;p16"/>
          <p:cNvSpPr txBox="1"/>
          <p:nvPr/>
        </p:nvSpPr>
        <p:spPr>
          <a:xfrm>
            <a:off x="411480" y="240030"/>
            <a:ext cx="82296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2300">
                <a:solidFill>
                  <a:srgbClr val="1B2A4A"/>
                </a:solidFill>
                <a:latin typeface="Open Sans"/>
                <a:ea typeface="Open Sans"/>
                <a:cs typeface="Open Sans"/>
                <a:sym typeface="Open Sans"/>
              </a:rPr>
              <a:t>Where We Left Off</a:t>
            </a:r>
            <a:endParaRPr sz="1100"/>
          </a:p>
        </p:txBody>
      </p:sp>
      <p:sp>
        <p:nvSpPr>
          <p:cNvPr id="90" name="Google Shape;90;p16"/>
          <p:cNvSpPr txBox="1"/>
          <p:nvPr/>
        </p:nvSpPr>
        <p:spPr>
          <a:xfrm>
            <a:off x="411480" y="685800"/>
            <a:ext cx="822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Marcus's question from Friday becomes Sarah's whole week</a:t>
            </a:r>
            <a:endParaRPr sz="1100"/>
          </a:p>
        </p:txBody>
      </p:sp>
      <p:sp>
        <p:nvSpPr>
          <p:cNvPr id="91" name="Google Shape;91;p16"/>
          <p:cNvSpPr txBox="1"/>
          <p:nvPr/>
        </p:nvSpPr>
        <p:spPr>
          <a:xfrm>
            <a:off x="411475" y="2723450"/>
            <a:ext cx="22128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300">
                <a:solidFill>
                  <a:srgbClr val="2C5697"/>
                </a:solidFill>
                <a:latin typeface="Open Sans"/>
                <a:ea typeface="Open Sans"/>
                <a:cs typeface="Open Sans"/>
                <a:sym typeface="Open Sans"/>
              </a:rPr>
              <a:t>What Sarah has now</a:t>
            </a:r>
            <a:endParaRPr sz="1300">
              <a:latin typeface="Open Sans"/>
              <a:ea typeface="Open Sans"/>
              <a:cs typeface="Open Sans"/>
              <a:sym typeface="Open Sans"/>
            </a:endParaRPr>
          </a:p>
        </p:txBody>
      </p:sp>
      <p:sp>
        <p:nvSpPr>
          <p:cNvPr id="92" name="Google Shape;92;p16"/>
          <p:cNvSpPr txBox="1"/>
          <p:nvPr/>
        </p:nvSpPr>
        <p:spPr>
          <a:xfrm>
            <a:off x="411475" y="1235538"/>
            <a:ext cx="6636300" cy="1023900"/>
          </a:xfrm>
          <a:prstGeom prst="rect">
            <a:avLst/>
          </a:prstGeom>
          <a:solidFill>
            <a:srgbClr val="1B2A4A"/>
          </a:solidFill>
          <a:ln cap="flat" cmpd="sng" w="9525">
            <a:solidFill>
              <a:srgbClr val="4F81BD"/>
            </a:solidFill>
            <a:prstDash val="solid"/>
            <a:round/>
            <a:headEnd len="sm" w="sm" type="none"/>
            <a:tailEnd len="sm" w="sm" type="none"/>
          </a:ln>
        </p:spPr>
        <p:txBody>
          <a:bodyPr anchorCtr="0" anchor="t" bIns="180000" lIns="180000" spcFirstLastPara="1" rIns="180000" wrap="square" tIns="180000">
            <a:spAutoFit/>
          </a:bodyPr>
          <a:lstStyle/>
          <a:p>
            <a:pPr indent="0" lvl="0" marL="0" marR="0" rtl="0" algn="l">
              <a:lnSpc>
                <a:spcPct val="115000"/>
              </a:lnSpc>
              <a:spcBef>
                <a:spcPts val="0"/>
              </a:spcBef>
              <a:spcAft>
                <a:spcPts val="0"/>
              </a:spcAft>
              <a:buNone/>
            </a:pPr>
            <a:r>
              <a:rPr i="1" lang="en-GB" sz="1300">
                <a:solidFill>
                  <a:schemeClr val="lt1"/>
                </a:solidFill>
                <a:latin typeface="Open Sans"/>
                <a:ea typeface="Open Sans"/>
                <a:cs typeface="Open Sans"/>
                <a:sym typeface="Open Sans"/>
              </a:rPr>
              <a:t>"OK. The sentiment model holds up. But you used a pre-trained one — off the shelf.</a:t>
            </a:r>
            <a:endParaRPr i="1" sz="1300">
              <a:solidFill>
                <a:schemeClr val="lt1"/>
              </a:solidFill>
              <a:latin typeface="Open Sans"/>
              <a:ea typeface="Open Sans"/>
              <a:cs typeface="Open Sans"/>
              <a:sym typeface="Open Sans"/>
            </a:endParaRPr>
          </a:p>
          <a:p>
            <a:pPr indent="0" lvl="0" marL="0" marR="0" rtl="0" algn="l">
              <a:lnSpc>
                <a:spcPct val="115000"/>
              </a:lnSpc>
              <a:spcBef>
                <a:spcPts val="0"/>
              </a:spcBef>
              <a:spcAft>
                <a:spcPts val="0"/>
              </a:spcAft>
              <a:buNone/>
            </a:pPr>
            <a:r>
              <a:rPr i="1" lang="en-GB" sz="1300">
                <a:solidFill>
                  <a:schemeClr val="lt1"/>
                </a:solidFill>
                <a:latin typeface="Open Sans"/>
                <a:ea typeface="Open Sans"/>
                <a:cs typeface="Open Sans"/>
                <a:sym typeface="Open Sans"/>
              </a:rPr>
              <a:t>Can you build us a model that predicts CHURN from our own customer data?</a:t>
            </a:r>
            <a:endParaRPr i="1" sz="1300">
              <a:solidFill>
                <a:schemeClr val="lt1"/>
              </a:solidFill>
              <a:latin typeface="Open Sans"/>
              <a:ea typeface="Open Sans"/>
              <a:cs typeface="Open Sans"/>
              <a:sym typeface="Open Sans"/>
            </a:endParaRPr>
          </a:p>
          <a:p>
            <a:pPr indent="0" lvl="0" marL="0" marR="0" rtl="0" algn="l">
              <a:lnSpc>
                <a:spcPct val="115000"/>
              </a:lnSpc>
              <a:spcBef>
                <a:spcPts val="0"/>
              </a:spcBef>
              <a:spcAft>
                <a:spcPts val="0"/>
              </a:spcAft>
              <a:buNone/>
            </a:pPr>
            <a:r>
              <a:rPr i="1" lang="en-GB" sz="1300">
                <a:solidFill>
                  <a:schemeClr val="lt1"/>
                </a:solidFill>
                <a:latin typeface="Open Sans"/>
                <a:ea typeface="Open Sans"/>
                <a:cs typeface="Open Sans"/>
                <a:sym typeface="Open Sans"/>
              </a:rPr>
              <a:t>Something trained on NorthStar behaviour, not some generic internet corpus?"</a:t>
            </a:r>
            <a:endParaRPr i="1" sz="1300">
              <a:solidFill>
                <a:schemeClr val="lt1"/>
              </a:solidFill>
              <a:latin typeface="Open Sans"/>
              <a:ea typeface="Open Sans"/>
              <a:cs typeface="Open Sans"/>
              <a:sym typeface="Open Sans"/>
            </a:endParaRPr>
          </a:p>
        </p:txBody>
      </p:sp>
      <p:graphicFrame>
        <p:nvGraphicFramePr>
          <p:cNvPr id="93" name="Google Shape;93;p16"/>
          <p:cNvGraphicFramePr/>
          <p:nvPr/>
        </p:nvGraphicFramePr>
        <p:xfrm>
          <a:off x="411475" y="3008863"/>
          <a:ext cx="3000000" cy="3000000"/>
        </p:xfrm>
        <a:graphic>
          <a:graphicData uri="http://schemas.openxmlformats.org/drawingml/2006/table">
            <a:tbl>
              <a:tblPr>
                <a:noFill/>
                <a:tableStyleId>{DBB44C57-90A2-424C-8A26-A9795E62AD86}</a:tableStyleId>
              </a:tblPr>
              <a:tblGrid>
                <a:gridCol w="2212900"/>
                <a:gridCol w="5830975"/>
              </a:tblGrid>
              <a:tr h="381000">
                <a:tc>
                  <a:txBody>
                    <a:bodyPr/>
                    <a:lstStyle/>
                    <a:p>
                      <a:pPr indent="0" lvl="0" marL="0" rtl="0" algn="l">
                        <a:spcBef>
                          <a:spcPts val="0"/>
                        </a:spcBef>
                        <a:spcAft>
                          <a:spcPts val="0"/>
                        </a:spcAft>
                        <a:buClr>
                          <a:schemeClr val="dk1"/>
                        </a:buClr>
                        <a:buFont typeface="Arial"/>
                        <a:buNone/>
                      </a:pPr>
                      <a:r>
                        <a:rPr lang="en-GB" sz="1300">
                          <a:solidFill>
                            <a:srgbClr val="333D4D"/>
                          </a:solidFill>
                          <a:latin typeface="Open Sans"/>
                          <a:ea typeface="Open Sans"/>
                          <a:cs typeface="Open Sans"/>
                          <a:sym typeface="Open Sans"/>
                        </a:rPr>
                        <a:t xml:space="preserve">📂 </a:t>
                      </a:r>
                      <a:r>
                        <a:rPr b="1" lang="en-GB" sz="1300">
                          <a:solidFill>
                            <a:srgbClr val="1B2A4A"/>
                          </a:solidFill>
                          <a:latin typeface="Open Sans"/>
                          <a:ea typeface="Open Sans"/>
                          <a:cs typeface="Open Sans"/>
                          <a:sym typeface="Open Sans"/>
                        </a:rPr>
                        <a:t>northstar_churn.csv</a:t>
                      </a:r>
                      <a:endParaRPr sz="1300">
                        <a:solidFill>
                          <a:srgbClr val="333D4D"/>
                        </a:solidFill>
                        <a:latin typeface="Open Sans"/>
                        <a:ea typeface="Open Sans"/>
                        <a:cs typeface="Open Sans"/>
                        <a:sym typeface="Open Sans"/>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GB" sz="1300">
                          <a:solidFill>
                            <a:srgbClr val="333D4D"/>
                          </a:solidFill>
                          <a:latin typeface="Open Sans"/>
                          <a:ea typeface="Open Sans"/>
                          <a:cs typeface="Open Sans"/>
                          <a:sym typeface="Open Sans"/>
                        </a:rPr>
                        <a:t>10,000 customers · 11 features · target column 'churned'</a:t>
                      </a:r>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381000">
                <a:tc>
                  <a:txBody>
                    <a:bodyPr/>
                    <a:lstStyle/>
                    <a:p>
                      <a:pPr indent="0" lvl="0" marL="0" rtl="0" algn="l">
                        <a:spcBef>
                          <a:spcPts val="0"/>
                        </a:spcBef>
                        <a:spcAft>
                          <a:spcPts val="0"/>
                        </a:spcAft>
                        <a:buClr>
                          <a:schemeClr val="dk1"/>
                        </a:buClr>
                        <a:buFont typeface="Arial"/>
                        <a:buNone/>
                      </a:pPr>
                      <a:r>
                        <a:rPr lang="en-GB" sz="1300">
                          <a:solidFill>
                            <a:srgbClr val="333D4D"/>
                          </a:solidFill>
                          <a:latin typeface="Open Sans"/>
                          <a:ea typeface="Open Sans"/>
                          <a:cs typeface="Open Sans"/>
                          <a:sym typeface="Open Sans"/>
                        </a:rPr>
                        <a:t xml:space="preserve">🎯 </a:t>
                      </a:r>
                      <a:r>
                        <a:rPr b="1" lang="en-GB" sz="1300">
                          <a:solidFill>
                            <a:srgbClr val="1B2A4A"/>
                          </a:solidFill>
                          <a:latin typeface="Open Sans"/>
                          <a:ea typeface="Open Sans"/>
                          <a:cs typeface="Open Sans"/>
                          <a:sym typeface="Open Sans"/>
                        </a:rPr>
                        <a:t>Imbalanced classes</a:t>
                      </a:r>
                      <a:endParaRPr sz="1300">
                        <a:solidFill>
                          <a:srgbClr val="333D4D"/>
                        </a:solidFill>
                        <a:latin typeface="Open Sans"/>
                        <a:ea typeface="Open Sans"/>
                        <a:cs typeface="Open Sans"/>
                        <a:sym typeface="Open Sans"/>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GB" sz="1300">
                          <a:solidFill>
                            <a:srgbClr val="333D4D"/>
                          </a:solidFill>
                          <a:latin typeface="Open Sans"/>
                          <a:ea typeface="Open Sans"/>
                          <a:cs typeface="Open Sans"/>
                          <a:sym typeface="Open Sans"/>
                        </a:rPr>
                        <a:t>~12% churn rate — accuracy alone will be misleading</a:t>
                      </a:r>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381000">
                <a:tc>
                  <a:txBody>
                    <a:bodyPr/>
                    <a:lstStyle/>
                    <a:p>
                      <a:pPr indent="0" lvl="0" marL="0" rtl="0" algn="l">
                        <a:spcBef>
                          <a:spcPts val="0"/>
                        </a:spcBef>
                        <a:spcAft>
                          <a:spcPts val="0"/>
                        </a:spcAft>
                        <a:buClr>
                          <a:schemeClr val="dk1"/>
                        </a:buClr>
                        <a:buFont typeface="Arial"/>
                        <a:buNone/>
                      </a:pPr>
                      <a:r>
                        <a:rPr lang="en-GB" sz="1300">
                          <a:solidFill>
                            <a:srgbClr val="333D4D"/>
                          </a:solidFill>
                          <a:latin typeface="Open Sans"/>
                          <a:ea typeface="Open Sans"/>
                          <a:cs typeface="Open Sans"/>
                          <a:sym typeface="Open Sans"/>
                        </a:rPr>
                        <a:t xml:space="preserve">⏱ </a:t>
                      </a:r>
                      <a:r>
                        <a:rPr b="1" lang="en-GB" sz="1300">
                          <a:solidFill>
                            <a:srgbClr val="1B2A4A"/>
                          </a:solidFill>
                          <a:latin typeface="Open Sans"/>
                          <a:ea typeface="Open Sans"/>
                          <a:cs typeface="Open Sans"/>
                          <a:sym typeface="Open Sans"/>
                        </a:rPr>
                        <a:t>5 working days</a:t>
                      </a:r>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b="1" lang="en-GB" sz="1300">
                          <a:solidFill>
                            <a:srgbClr val="333D4D"/>
                          </a:solidFill>
                          <a:latin typeface="Open Sans"/>
                          <a:ea typeface="Open Sans"/>
                          <a:cs typeface="Open Sans"/>
                          <a:sym typeface="Open Sans"/>
                        </a:rPr>
                        <a:t>Mon</a:t>
                      </a:r>
                      <a:r>
                        <a:rPr lang="en-GB" sz="1300">
                          <a:solidFill>
                            <a:srgbClr val="333D4D"/>
                          </a:solidFill>
                          <a:latin typeface="Open Sans"/>
                          <a:ea typeface="Open Sans"/>
                          <a:cs typeface="Open Sans"/>
                          <a:sym typeface="Open Sans"/>
                        </a:rPr>
                        <a:t xml:space="preserve">: explore · </a:t>
                      </a:r>
                      <a:r>
                        <a:rPr b="1" lang="en-GB" sz="1300">
                          <a:solidFill>
                            <a:srgbClr val="333D4D"/>
                          </a:solidFill>
                          <a:latin typeface="Open Sans"/>
                          <a:ea typeface="Open Sans"/>
                          <a:cs typeface="Open Sans"/>
                          <a:sym typeface="Open Sans"/>
                        </a:rPr>
                        <a:t>Tue</a:t>
                      </a:r>
                      <a:r>
                        <a:rPr lang="en-GB" sz="1300">
                          <a:solidFill>
                            <a:srgbClr val="333D4D"/>
                          </a:solidFill>
                          <a:latin typeface="Open Sans"/>
                          <a:ea typeface="Open Sans"/>
                          <a:cs typeface="Open Sans"/>
                          <a:sym typeface="Open Sans"/>
                        </a:rPr>
                        <a:t xml:space="preserve">: preprocess · </a:t>
                      </a:r>
                      <a:r>
                        <a:rPr b="1" lang="en-GB" sz="1300">
                          <a:solidFill>
                            <a:srgbClr val="333D4D"/>
                          </a:solidFill>
                          <a:latin typeface="Open Sans"/>
                          <a:ea typeface="Open Sans"/>
                          <a:cs typeface="Open Sans"/>
                          <a:sym typeface="Open Sans"/>
                        </a:rPr>
                        <a:t>Wed</a:t>
                      </a:r>
                      <a:r>
                        <a:rPr lang="en-GB" sz="1300">
                          <a:solidFill>
                            <a:srgbClr val="333D4D"/>
                          </a:solidFill>
                          <a:latin typeface="Open Sans"/>
                          <a:ea typeface="Open Sans"/>
                          <a:cs typeface="Open Sans"/>
                          <a:sym typeface="Open Sans"/>
                        </a:rPr>
                        <a:t xml:space="preserve">: train · </a:t>
                      </a:r>
                      <a:r>
                        <a:rPr b="1" lang="en-GB" sz="1300">
                          <a:solidFill>
                            <a:srgbClr val="333D4D"/>
                          </a:solidFill>
                          <a:latin typeface="Open Sans"/>
                          <a:ea typeface="Open Sans"/>
                          <a:cs typeface="Open Sans"/>
                          <a:sym typeface="Open Sans"/>
                        </a:rPr>
                        <a:t>Thu</a:t>
                      </a:r>
                      <a:r>
                        <a:rPr lang="en-GB" sz="1300">
                          <a:solidFill>
                            <a:srgbClr val="333D4D"/>
                          </a:solidFill>
                          <a:latin typeface="Open Sans"/>
                          <a:ea typeface="Open Sans"/>
                          <a:cs typeface="Open Sans"/>
                          <a:sym typeface="Open Sans"/>
                        </a:rPr>
                        <a:t xml:space="preserve">: evaluate · </a:t>
                      </a:r>
                      <a:r>
                        <a:rPr b="1" lang="en-GB" sz="1300">
                          <a:solidFill>
                            <a:srgbClr val="333D4D"/>
                          </a:solidFill>
                          <a:latin typeface="Open Sans"/>
                          <a:ea typeface="Open Sans"/>
                          <a:cs typeface="Open Sans"/>
                          <a:sym typeface="Open Sans"/>
                        </a:rPr>
                        <a:t>Fri</a:t>
                      </a:r>
                      <a:r>
                        <a:rPr lang="en-GB" sz="1300">
                          <a:solidFill>
                            <a:srgbClr val="333D4D"/>
                          </a:solidFill>
                          <a:latin typeface="Open Sans"/>
                          <a:ea typeface="Open Sans"/>
                          <a:cs typeface="Open Sans"/>
                          <a:sym typeface="Open Sans"/>
                        </a:rPr>
                        <a:t>: present</a:t>
                      </a:r>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8"/>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Open Sans"/>
              <a:ea typeface="Open Sans"/>
              <a:cs typeface="Open Sans"/>
              <a:sym typeface="Open Sans"/>
            </a:endParaRPr>
          </a:p>
        </p:txBody>
      </p:sp>
      <p:sp>
        <p:nvSpPr>
          <p:cNvPr id="114" name="Google Shape;114;p18"/>
          <p:cNvSpPr/>
          <p:nvPr/>
        </p:nvSpPr>
        <p:spPr>
          <a:xfrm>
            <a:off x="0" y="0"/>
            <a:ext cx="9143700" cy="1098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15" name="Google Shape;115;p18"/>
          <p:cNvSpPr txBox="1"/>
          <p:nvPr/>
        </p:nvSpPr>
        <p:spPr>
          <a:xfrm>
            <a:off x="411480" y="240030"/>
            <a:ext cx="82296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2300">
                <a:solidFill>
                  <a:srgbClr val="1B2A4A"/>
                </a:solidFill>
                <a:latin typeface="Open Sans"/>
                <a:ea typeface="Open Sans"/>
                <a:cs typeface="Open Sans"/>
                <a:sym typeface="Open Sans"/>
              </a:rPr>
              <a:t>The Three Things This Week Is About</a:t>
            </a:r>
            <a:endParaRPr sz="1100"/>
          </a:p>
        </p:txBody>
      </p:sp>
      <p:sp>
        <p:nvSpPr>
          <p:cNvPr id="116" name="Google Shape;116;p18"/>
          <p:cNvSpPr txBox="1"/>
          <p:nvPr/>
        </p:nvSpPr>
        <p:spPr>
          <a:xfrm>
            <a:off x="411480" y="685800"/>
            <a:ext cx="822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Forget the model — these are the actual risks</a:t>
            </a:r>
            <a:endParaRPr sz="1100"/>
          </a:p>
        </p:txBody>
      </p:sp>
      <p:sp>
        <p:nvSpPr>
          <p:cNvPr id="117" name="Google Shape;117;p18"/>
          <p:cNvSpPr/>
          <p:nvPr/>
        </p:nvSpPr>
        <p:spPr>
          <a:xfrm>
            <a:off x="411480" y="1127389"/>
            <a:ext cx="548400" cy="1254300"/>
          </a:xfrm>
          <a:prstGeom prst="rect">
            <a:avLst/>
          </a:prstGeom>
          <a:solidFill>
            <a:srgbClr val="1B2A4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18" name="Google Shape;118;p18"/>
          <p:cNvSpPr txBox="1"/>
          <p:nvPr/>
        </p:nvSpPr>
        <p:spPr>
          <a:xfrm>
            <a:off x="411480" y="1333129"/>
            <a:ext cx="548400" cy="492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3200">
                <a:solidFill>
                  <a:srgbClr val="FFFFFF"/>
                </a:solidFill>
                <a:latin typeface="Open Sans"/>
                <a:ea typeface="Open Sans"/>
                <a:cs typeface="Open Sans"/>
                <a:sym typeface="Open Sans"/>
              </a:rPr>
              <a:t>1</a:t>
            </a:r>
            <a:endParaRPr sz="1100"/>
          </a:p>
        </p:txBody>
      </p:sp>
      <p:sp>
        <p:nvSpPr>
          <p:cNvPr id="119" name="Google Shape;119;p18"/>
          <p:cNvSpPr/>
          <p:nvPr/>
        </p:nvSpPr>
        <p:spPr>
          <a:xfrm>
            <a:off x="1062990" y="1127389"/>
            <a:ext cx="7612500" cy="1254300"/>
          </a:xfrm>
          <a:prstGeom prst="rect">
            <a:avLst/>
          </a:prstGeom>
          <a:solidFill>
            <a:srgbClr val="F4F5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20" name="Google Shape;120;p18"/>
          <p:cNvSpPr txBox="1"/>
          <p:nvPr/>
        </p:nvSpPr>
        <p:spPr>
          <a:xfrm>
            <a:off x="1234440" y="1230259"/>
            <a:ext cx="548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600">
                <a:solidFill>
                  <a:srgbClr val="1B2A4A"/>
                </a:solidFill>
                <a:latin typeface="Open Sans"/>
                <a:ea typeface="Open Sans"/>
                <a:cs typeface="Open Sans"/>
                <a:sym typeface="Open Sans"/>
              </a:rPr>
              <a:t>Preprocessing</a:t>
            </a:r>
            <a:endParaRPr sz="1100"/>
          </a:p>
        </p:txBody>
      </p:sp>
      <p:sp>
        <p:nvSpPr>
          <p:cNvPr id="121" name="Google Shape;121;p18"/>
          <p:cNvSpPr txBox="1"/>
          <p:nvPr/>
        </p:nvSpPr>
        <p:spPr>
          <a:xfrm>
            <a:off x="7200900" y="1230259"/>
            <a:ext cx="1371600" cy="1692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GB" sz="1100">
                <a:solidFill>
                  <a:srgbClr val="2C5697"/>
                </a:solidFill>
                <a:latin typeface="Open Sans"/>
                <a:ea typeface="Open Sans"/>
                <a:cs typeface="Open Sans"/>
                <a:sym typeface="Open Sans"/>
              </a:rPr>
              <a:t>Notebook 02</a:t>
            </a:r>
            <a:endParaRPr sz="1100"/>
          </a:p>
        </p:txBody>
      </p:sp>
      <p:sp>
        <p:nvSpPr>
          <p:cNvPr id="122" name="Google Shape;122;p18"/>
          <p:cNvSpPr txBox="1"/>
          <p:nvPr/>
        </p:nvSpPr>
        <p:spPr>
          <a:xfrm>
            <a:off x="1234440" y="1573159"/>
            <a:ext cx="73383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200">
                <a:solidFill>
                  <a:srgbClr val="333D4D"/>
                </a:solidFill>
                <a:latin typeface="Open Sans"/>
                <a:ea typeface="Open Sans"/>
                <a:cs typeface="Open Sans"/>
                <a:sym typeface="Open Sans"/>
              </a:rPr>
              <a:t>Cleaning the messy CSV into something a model can train on.</a:t>
            </a:r>
            <a:endParaRPr sz="1100"/>
          </a:p>
        </p:txBody>
      </p:sp>
      <p:sp>
        <p:nvSpPr>
          <p:cNvPr id="123" name="Google Shape;123;p18"/>
          <p:cNvSpPr txBox="1"/>
          <p:nvPr/>
        </p:nvSpPr>
        <p:spPr>
          <a:xfrm>
            <a:off x="1234440" y="1868053"/>
            <a:ext cx="73383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100">
                <a:solidFill>
                  <a:srgbClr val="C8102E"/>
                </a:solidFill>
                <a:latin typeface="Open Sans"/>
                <a:ea typeface="Open Sans"/>
                <a:cs typeface="Open Sans"/>
                <a:sym typeface="Open Sans"/>
              </a:rPr>
              <a:t>▸ 60-70% of any real ML project lives here.</a:t>
            </a:r>
            <a:endParaRPr sz="1100"/>
          </a:p>
        </p:txBody>
      </p:sp>
      <p:sp>
        <p:nvSpPr>
          <p:cNvPr id="124" name="Google Shape;124;p18"/>
          <p:cNvSpPr/>
          <p:nvPr/>
        </p:nvSpPr>
        <p:spPr>
          <a:xfrm>
            <a:off x="411480" y="2293248"/>
            <a:ext cx="548400" cy="1254300"/>
          </a:xfrm>
          <a:prstGeom prst="rect">
            <a:avLst/>
          </a:prstGeom>
          <a:solidFill>
            <a:srgbClr val="1B2A4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25" name="Google Shape;125;p18"/>
          <p:cNvSpPr txBox="1"/>
          <p:nvPr/>
        </p:nvSpPr>
        <p:spPr>
          <a:xfrm>
            <a:off x="411480" y="2498988"/>
            <a:ext cx="548400" cy="492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3200">
                <a:solidFill>
                  <a:srgbClr val="FFFFFF"/>
                </a:solidFill>
                <a:latin typeface="Open Sans"/>
                <a:ea typeface="Open Sans"/>
                <a:cs typeface="Open Sans"/>
                <a:sym typeface="Open Sans"/>
              </a:rPr>
              <a:t>2</a:t>
            </a:r>
            <a:endParaRPr sz="1100"/>
          </a:p>
        </p:txBody>
      </p:sp>
      <p:sp>
        <p:nvSpPr>
          <p:cNvPr id="126" name="Google Shape;126;p18"/>
          <p:cNvSpPr/>
          <p:nvPr/>
        </p:nvSpPr>
        <p:spPr>
          <a:xfrm>
            <a:off x="1062990" y="2293248"/>
            <a:ext cx="7612500" cy="1254300"/>
          </a:xfrm>
          <a:prstGeom prst="rect">
            <a:avLst/>
          </a:prstGeom>
          <a:solidFill>
            <a:srgbClr val="F4F5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27" name="Google Shape;127;p18"/>
          <p:cNvSpPr txBox="1"/>
          <p:nvPr/>
        </p:nvSpPr>
        <p:spPr>
          <a:xfrm>
            <a:off x="1234440" y="2396118"/>
            <a:ext cx="548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600">
                <a:solidFill>
                  <a:srgbClr val="1B2A4A"/>
                </a:solidFill>
                <a:latin typeface="Open Sans"/>
                <a:ea typeface="Open Sans"/>
                <a:cs typeface="Open Sans"/>
                <a:sym typeface="Open Sans"/>
              </a:rPr>
              <a:t>Honest evaluation</a:t>
            </a:r>
            <a:endParaRPr sz="1100"/>
          </a:p>
        </p:txBody>
      </p:sp>
      <p:sp>
        <p:nvSpPr>
          <p:cNvPr id="128" name="Google Shape;128;p18"/>
          <p:cNvSpPr txBox="1"/>
          <p:nvPr/>
        </p:nvSpPr>
        <p:spPr>
          <a:xfrm>
            <a:off x="7200900" y="2396118"/>
            <a:ext cx="1371600" cy="1692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GB" sz="1100">
                <a:solidFill>
                  <a:srgbClr val="2C5697"/>
                </a:solidFill>
                <a:latin typeface="Open Sans"/>
                <a:ea typeface="Open Sans"/>
                <a:cs typeface="Open Sans"/>
                <a:sym typeface="Open Sans"/>
              </a:rPr>
              <a:t>Notebook 03</a:t>
            </a:r>
            <a:endParaRPr sz="1100"/>
          </a:p>
        </p:txBody>
      </p:sp>
      <p:sp>
        <p:nvSpPr>
          <p:cNvPr id="129" name="Google Shape;129;p18"/>
          <p:cNvSpPr txBox="1"/>
          <p:nvPr/>
        </p:nvSpPr>
        <p:spPr>
          <a:xfrm>
            <a:off x="1234440" y="2739018"/>
            <a:ext cx="73383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200">
                <a:solidFill>
                  <a:srgbClr val="333D4D"/>
                </a:solidFill>
                <a:latin typeface="Open Sans"/>
                <a:ea typeface="Open Sans"/>
                <a:cs typeface="Open Sans"/>
                <a:sym typeface="Open Sans"/>
              </a:rPr>
              <a:t>Measuring the model on data it has never seen.</a:t>
            </a:r>
            <a:endParaRPr sz="1100"/>
          </a:p>
        </p:txBody>
      </p:sp>
      <p:sp>
        <p:nvSpPr>
          <p:cNvPr id="130" name="Google Shape;130;p18"/>
          <p:cNvSpPr txBox="1"/>
          <p:nvPr/>
        </p:nvSpPr>
        <p:spPr>
          <a:xfrm>
            <a:off x="1234440" y="3033912"/>
            <a:ext cx="73383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100">
                <a:solidFill>
                  <a:srgbClr val="C8102E"/>
                </a:solidFill>
                <a:latin typeface="Open Sans"/>
                <a:ea typeface="Open Sans"/>
                <a:cs typeface="Open Sans"/>
                <a:sym typeface="Open Sans"/>
              </a:rPr>
              <a:t>▸ It's easy to fool yourself. Discipline is required.</a:t>
            </a:r>
            <a:endParaRPr sz="1100"/>
          </a:p>
        </p:txBody>
      </p:sp>
      <p:sp>
        <p:nvSpPr>
          <p:cNvPr id="131" name="Google Shape;131;p18"/>
          <p:cNvSpPr/>
          <p:nvPr/>
        </p:nvSpPr>
        <p:spPr>
          <a:xfrm>
            <a:off x="411480" y="3459109"/>
            <a:ext cx="548400" cy="1254300"/>
          </a:xfrm>
          <a:prstGeom prst="rect">
            <a:avLst/>
          </a:prstGeom>
          <a:solidFill>
            <a:srgbClr val="1B2A4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32" name="Google Shape;132;p18"/>
          <p:cNvSpPr txBox="1"/>
          <p:nvPr/>
        </p:nvSpPr>
        <p:spPr>
          <a:xfrm>
            <a:off x="411480" y="3664849"/>
            <a:ext cx="548400" cy="492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3200">
                <a:solidFill>
                  <a:srgbClr val="FFFFFF"/>
                </a:solidFill>
                <a:latin typeface="Open Sans"/>
                <a:ea typeface="Open Sans"/>
                <a:cs typeface="Open Sans"/>
                <a:sym typeface="Open Sans"/>
              </a:rPr>
              <a:t>3</a:t>
            </a:r>
            <a:endParaRPr sz="1100"/>
          </a:p>
        </p:txBody>
      </p:sp>
      <p:sp>
        <p:nvSpPr>
          <p:cNvPr id="133" name="Google Shape;133;p18"/>
          <p:cNvSpPr/>
          <p:nvPr/>
        </p:nvSpPr>
        <p:spPr>
          <a:xfrm>
            <a:off x="1062990" y="3459109"/>
            <a:ext cx="7612500" cy="1254300"/>
          </a:xfrm>
          <a:prstGeom prst="rect">
            <a:avLst/>
          </a:prstGeom>
          <a:solidFill>
            <a:srgbClr val="F4F5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34" name="Google Shape;134;p18"/>
          <p:cNvSpPr txBox="1"/>
          <p:nvPr/>
        </p:nvSpPr>
        <p:spPr>
          <a:xfrm>
            <a:off x="1234440" y="3561979"/>
            <a:ext cx="548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600">
                <a:solidFill>
                  <a:srgbClr val="1B2A4A"/>
                </a:solidFill>
                <a:latin typeface="Open Sans"/>
                <a:ea typeface="Open Sans"/>
                <a:cs typeface="Open Sans"/>
                <a:sym typeface="Open Sans"/>
              </a:rPr>
              <a:t>Threshold choice</a:t>
            </a:r>
            <a:endParaRPr sz="1100"/>
          </a:p>
        </p:txBody>
      </p:sp>
      <p:sp>
        <p:nvSpPr>
          <p:cNvPr id="135" name="Google Shape;135;p18"/>
          <p:cNvSpPr txBox="1"/>
          <p:nvPr/>
        </p:nvSpPr>
        <p:spPr>
          <a:xfrm>
            <a:off x="7200900" y="3561979"/>
            <a:ext cx="1371600" cy="1692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GB" sz="1100">
                <a:solidFill>
                  <a:srgbClr val="2C5697"/>
                </a:solidFill>
                <a:latin typeface="Open Sans"/>
                <a:ea typeface="Open Sans"/>
                <a:cs typeface="Open Sans"/>
                <a:sym typeface="Open Sans"/>
              </a:rPr>
              <a:t>Notebook 04</a:t>
            </a:r>
            <a:endParaRPr sz="1100"/>
          </a:p>
        </p:txBody>
      </p:sp>
      <p:sp>
        <p:nvSpPr>
          <p:cNvPr id="136" name="Google Shape;136;p18"/>
          <p:cNvSpPr txBox="1"/>
          <p:nvPr/>
        </p:nvSpPr>
        <p:spPr>
          <a:xfrm>
            <a:off x="1234440" y="3904879"/>
            <a:ext cx="73383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200">
                <a:solidFill>
                  <a:srgbClr val="333D4D"/>
                </a:solidFill>
                <a:latin typeface="Open Sans"/>
                <a:ea typeface="Open Sans"/>
                <a:cs typeface="Open Sans"/>
                <a:sym typeface="Open Sans"/>
              </a:rPr>
              <a:t>A classifier outputs a PROBABILITY, not a label. Where you put the threshold IS the business decision.</a:t>
            </a:r>
            <a:endParaRPr sz="1100"/>
          </a:p>
        </p:txBody>
      </p:sp>
      <p:sp>
        <p:nvSpPr>
          <p:cNvPr id="137" name="Google Shape;137;p18"/>
          <p:cNvSpPr txBox="1"/>
          <p:nvPr/>
        </p:nvSpPr>
        <p:spPr>
          <a:xfrm>
            <a:off x="1234440" y="4199773"/>
            <a:ext cx="73383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100">
                <a:solidFill>
                  <a:srgbClr val="C8102E"/>
                </a:solidFill>
                <a:latin typeface="Open Sans"/>
                <a:ea typeface="Open Sans"/>
                <a:cs typeface="Open Sans"/>
                <a:sym typeface="Open Sans"/>
              </a:rPr>
              <a:t>▸ Not a technical decision. An operational one.</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9"/>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Open Sans"/>
              <a:ea typeface="Open Sans"/>
              <a:cs typeface="Open Sans"/>
              <a:sym typeface="Open Sans"/>
            </a:endParaRPr>
          </a:p>
        </p:txBody>
      </p:sp>
      <p:sp>
        <p:nvSpPr>
          <p:cNvPr id="144" name="Google Shape;144;p19"/>
          <p:cNvSpPr/>
          <p:nvPr/>
        </p:nvSpPr>
        <p:spPr>
          <a:xfrm>
            <a:off x="0" y="0"/>
            <a:ext cx="9143700" cy="1098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45" name="Google Shape;145;p19"/>
          <p:cNvSpPr txBox="1"/>
          <p:nvPr/>
        </p:nvSpPr>
        <p:spPr>
          <a:xfrm>
            <a:off x="411480" y="240030"/>
            <a:ext cx="82296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2300">
                <a:solidFill>
                  <a:srgbClr val="1B2A4A"/>
                </a:solidFill>
                <a:latin typeface="Open Sans"/>
                <a:ea typeface="Open Sans"/>
                <a:cs typeface="Open Sans"/>
                <a:sym typeface="Open Sans"/>
              </a:rPr>
              <a:t>Preprocessing — Three Problems</a:t>
            </a:r>
            <a:endParaRPr sz="1100"/>
          </a:p>
        </p:txBody>
      </p:sp>
      <p:sp>
        <p:nvSpPr>
          <p:cNvPr id="146" name="Google Shape;146;p19"/>
          <p:cNvSpPr txBox="1"/>
          <p:nvPr/>
        </p:nvSpPr>
        <p:spPr>
          <a:xfrm>
            <a:off x="411480" y="685800"/>
            <a:ext cx="822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Why raw CSV files crash models</a:t>
            </a:r>
            <a:endParaRPr sz="1100"/>
          </a:p>
        </p:txBody>
      </p:sp>
      <p:sp>
        <p:nvSpPr>
          <p:cNvPr id="147" name="Google Shape;147;p19"/>
          <p:cNvSpPr/>
          <p:nvPr/>
        </p:nvSpPr>
        <p:spPr>
          <a:xfrm>
            <a:off x="411480" y="1160844"/>
            <a:ext cx="548400" cy="12543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48" name="Google Shape;148;p19"/>
          <p:cNvSpPr txBox="1"/>
          <p:nvPr/>
        </p:nvSpPr>
        <p:spPr>
          <a:xfrm>
            <a:off x="411480" y="1366584"/>
            <a:ext cx="548400" cy="415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GB" sz="2700">
                <a:solidFill>
                  <a:srgbClr val="FFFFFF"/>
                </a:solidFill>
                <a:latin typeface="Open Sans"/>
                <a:ea typeface="Open Sans"/>
                <a:cs typeface="Open Sans"/>
                <a:sym typeface="Open Sans"/>
              </a:rPr>
              <a:t>🕳</a:t>
            </a:r>
            <a:endParaRPr sz="1100"/>
          </a:p>
        </p:txBody>
      </p:sp>
      <p:sp>
        <p:nvSpPr>
          <p:cNvPr id="149" name="Google Shape;149;p19"/>
          <p:cNvSpPr/>
          <p:nvPr/>
        </p:nvSpPr>
        <p:spPr>
          <a:xfrm>
            <a:off x="1062990" y="1160844"/>
            <a:ext cx="7612500" cy="1254300"/>
          </a:xfrm>
          <a:prstGeom prst="rect">
            <a:avLst/>
          </a:prstGeom>
          <a:solidFill>
            <a:srgbClr val="F4F5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50" name="Google Shape;150;p19"/>
          <p:cNvSpPr txBox="1"/>
          <p:nvPr/>
        </p:nvSpPr>
        <p:spPr>
          <a:xfrm>
            <a:off x="1234440" y="1263714"/>
            <a:ext cx="73383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600">
                <a:solidFill>
                  <a:srgbClr val="1B2A4A"/>
                </a:solidFill>
                <a:latin typeface="Open Sans"/>
                <a:ea typeface="Open Sans"/>
                <a:cs typeface="Open Sans"/>
                <a:sym typeface="Open Sans"/>
              </a:rPr>
              <a:t>Missing values</a:t>
            </a:r>
            <a:endParaRPr sz="1100"/>
          </a:p>
        </p:txBody>
      </p:sp>
      <p:sp>
        <p:nvSpPr>
          <p:cNvPr id="151" name="Google Shape;151;p19"/>
          <p:cNvSpPr txBox="1"/>
          <p:nvPr/>
        </p:nvSpPr>
        <p:spPr>
          <a:xfrm>
            <a:off x="1234440" y="1572324"/>
            <a:ext cx="73383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Some cells are empty. A logistic regression can't multiply by NaN.</a:t>
            </a:r>
            <a:endParaRPr sz="1100"/>
          </a:p>
        </p:txBody>
      </p:sp>
      <p:sp>
        <p:nvSpPr>
          <p:cNvPr id="152" name="Google Shape;152;p19"/>
          <p:cNvSpPr txBox="1"/>
          <p:nvPr/>
        </p:nvSpPr>
        <p:spPr>
          <a:xfrm>
            <a:off x="1234440" y="1915224"/>
            <a:ext cx="73383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100">
                <a:solidFill>
                  <a:srgbClr val="2C5697"/>
                </a:solidFill>
                <a:latin typeface="Open Sans"/>
                <a:ea typeface="Open Sans"/>
                <a:cs typeface="Open Sans"/>
                <a:sym typeface="Open Sans"/>
              </a:rPr>
              <a:t>▸ 8% of last_login_days_ago · 30% of avg_review_polarity</a:t>
            </a:r>
            <a:endParaRPr sz="1100"/>
          </a:p>
        </p:txBody>
      </p:sp>
      <p:sp>
        <p:nvSpPr>
          <p:cNvPr id="153" name="Google Shape;153;p19"/>
          <p:cNvSpPr/>
          <p:nvPr/>
        </p:nvSpPr>
        <p:spPr>
          <a:xfrm>
            <a:off x="411480" y="2326703"/>
            <a:ext cx="548400" cy="12543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54" name="Google Shape;154;p19"/>
          <p:cNvSpPr txBox="1"/>
          <p:nvPr/>
        </p:nvSpPr>
        <p:spPr>
          <a:xfrm>
            <a:off x="411480" y="2532443"/>
            <a:ext cx="548400" cy="415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GB" sz="2700">
                <a:solidFill>
                  <a:srgbClr val="FFFFFF"/>
                </a:solidFill>
                <a:latin typeface="Open Sans"/>
                <a:ea typeface="Open Sans"/>
                <a:cs typeface="Open Sans"/>
                <a:sym typeface="Open Sans"/>
              </a:rPr>
              <a:t>📏</a:t>
            </a:r>
            <a:endParaRPr sz="1100"/>
          </a:p>
        </p:txBody>
      </p:sp>
      <p:sp>
        <p:nvSpPr>
          <p:cNvPr id="155" name="Google Shape;155;p19"/>
          <p:cNvSpPr/>
          <p:nvPr/>
        </p:nvSpPr>
        <p:spPr>
          <a:xfrm>
            <a:off x="1062990" y="2326703"/>
            <a:ext cx="7612500" cy="1254300"/>
          </a:xfrm>
          <a:prstGeom prst="rect">
            <a:avLst/>
          </a:prstGeom>
          <a:solidFill>
            <a:srgbClr val="F4F5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56" name="Google Shape;156;p19"/>
          <p:cNvSpPr txBox="1"/>
          <p:nvPr/>
        </p:nvSpPr>
        <p:spPr>
          <a:xfrm>
            <a:off x="1234440" y="2429573"/>
            <a:ext cx="73383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600">
                <a:solidFill>
                  <a:srgbClr val="1B2A4A"/>
                </a:solidFill>
                <a:latin typeface="Open Sans"/>
                <a:ea typeface="Open Sans"/>
                <a:cs typeface="Open Sans"/>
                <a:sym typeface="Open Sans"/>
              </a:rPr>
              <a:t>Different scales</a:t>
            </a:r>
            <a:endParaRPr sz="1100"/>
          </a:p>
        </p:txBody>
      </p:sp>
      <p:sp>
        <p:nvSpPr>
          <p:cNvPr id="157" name="Google Shape;157;p19"/>
          <p:cNvSpPr txBox="1"/>
          <p:nvPr/>
        </p:nvSpPr>
        <p:spPr>
          <a:xfrm>
            <a:off x="1234440" y="2738183"/>
            <a:ext cx="73383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age is 18–80; avg_monthly_spend_gbp is 0–500. Large-scale features dominate.</a:t>
            </a:r>
            <a:endParaRPr sz="1100"/>
          </a:p>
        </p:txBody>
      </p:sp>
      <p:sp>
        <p:nvSpPr>
          <p:cNvPr id="158" name="Google Shape;158;p19"/>
          <p:cNvSpPr txBox="1"/>
          <p:nvPr/>
        </p:nvSpPr>
        <p:spPr>
          <a:xfrm>
            <a:off x="1234440" y="3081083"/>
            <a:ext cx="73383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100">
                <a:solidFill>
                  <a:srgbClr val="2C5697"/>
                </a:solidFill>
                <a:latin typeface="Open Sans"/>
                <a:ea typeface="Open Sans"/>
                <a:cs typeface="Open Sans"/>
                <a:sym typeface="Open Sans"/>
              </a:rPr>
              <a:t>▸ Distance- and gradient-based models get confused</a:t>
            </a:r>
            <a:endParaRPr sz="1100"/>
          </a:p>
        </p:txBody>
      </p:sp>
      <p:sp>
        <p:nvSpPr>
          <p:cNvPr id="159" name="Google Shape;159;p19"/>
          <p:cNvSpPr/>
          <p:nvPr/>
        </p:nvSpPr>
        <p:spPr>
          <a:xfrm>
            <a:off x="411480" y="3492564"/>
            <a:ext cx="548400" cy="12543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60" name="Google Shape;160;p19"/>
          <p:cNvSpPr txBox="1"/>
          <p:nvPr/>
        </p:nvSpPr>
        <p:spPr>
          <a:xfrm>
            <a:off x="411480" y="3698304"/>
            <a:ext cx="548400" cy="415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GB" sz="2700">
                <a:solidFill>
                  <a:srgbClr val="FFFFFF"/>
                </a:solidFill>
                <a:latin typeface="Open Sans"/>
                <a:ea typeface="Open Sans"/>
                <a:cs typeface="Open Sans"/>
                <a:sym typeface="Open Sans"/>
              </a:rPr>
              <a:t>🔤</a:t>
            </a:r>
            <a:endParaRPr sz="1100"/>
          </a:p>
        </p:txBody>
      </p:sp>
      <p:sp>
        <p:nvSpPr>
          <p:cNvPr id="161" name="Google Shape;161;p19"/>
          <p:cNvSpPr/>
          <p:nvPr/>
        </p:nvSpPr>
        <p:spPr>
          <a:xfrm>
            <a:off x="1062990" y="3492564"/>
            <a:ext cx="7612500" cy="1254300"/>
          </a:xfrm>
          <a:prstGeom prst="rect">
            <a:avLst/>
          </a:prstGeom>
          <a:solidFill>
            <a:srgbClr val="F4F5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62" name="Google Shape;162;p19"/>
          <p:cNvSpPr txBox="1"/>
          <p:nvPr/>
        </p:nvSpPr>
        <p:spPr>
          <a:xfrm>
            <a:off x="1234440" y="3595434"/>
            <a:ext cx="73383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600">
                <a:solidFill>
                  <a:srgbClr val="1B2A4A"/>
                </a:solidFill>
                <a:latin typeface="Open Sans"/>
                <a:ea typeface="Open Sans"/>
                <a:cs typeface="Open Sans"/>
                <a:sym typeface="Open Sans"/>
              </a:rPr>
              <a:t>Text categories</a:t>
            </a:r>
            <a:endParaRPr sz="1100"/>
          </a:p>
        </p:txBody>
      </p:sp>
      <p:sp>
        <p:nvSpPr>
          <p:cNvPr id="163" name="Google Shape;163;p19"/>
          <p:cNvSpPr txBox="1"/>
          <p:nvPr/>
        </p:nvSpPr>
        <p:spPr>
          <a:xfrm>
            <a:off x="1234440" y="3904044"/>
            <a:ext cx="73383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Models compute on numbers. 'London', 'North' must become numeric.</a:t>
            </a:r>
            <a:endParaRPr sz="1100"/>
          </a:p>
        </p:txBody>
      </p:sp>
      <p:sp>
        <p:nvSpPr>
          <p:cNvPr id="164" name="Google Shape;164;p19"/>
          <p:cNvSpPr txBox="1"/>
          <p:nvPr/>
        </p:nvSpPr>
        <p:spPr>
          <a:xfrm>
            <a:off x="1234440" y="4246944"/>
            <a:ext cx="73383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100">
                <a:solidFill>
                  <a:srgbClr val="2C5697"/>
                </a:solidFill>
                <a:latin typeface="Open Sans"/>
                <a:ea typeface="Open Sans"/>
                <a:cs typeface="Open Sans"/>
                <a:sym typeface="Open Sans"/>
              </a:rPr>
              <a:t>▸ Choose carefully — wrong encoding teaches the model fake ordering</a:t>
            </a:r>
            <a:endParaRPr sz="11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28"/>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Open Sans"/>
              <a:ea typeface="Open Sans"/>
              <a:cs typeface="Open Sans"/>
              <a:sym typeface="Open Sans"/>
            </a:endParaRPr>
          </a:p>
        </p:txBody>
      </p:sp>
      <p:sp>
        <p:nvSpPr>
          <p:cNvPr id="303" name="Google Shape;303;p28"/>
          <p:cNvSpPr/>
          <p:nvPr/>
        </p:nvSpPr>
        <p:spPr>
          <a:xfrm>
            <a:off x="0" y="0"/>
            <a:ext cx="9143700" cy="5143500"/>
          </a:xfrm>
          <a:prstGeom prst="rect">
            <a:avLst/>
          </a:prstGeom>
          <a:solidFill>
            <a:srgbClr val="1B2A4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304" name="Google Shape;304;p28"/>
          <p:cNvSpPr/>
          <p:nvPr/>
        </p:nvSpPr>
        <p:spPr>
          <a:xfrm>
            <a:off x="342900" y="342900"/>
            <a:ext cx="8457900" cy="4457700"/>
          </a:xfrm>
          <a:prstGeom prst="rect">
            <a:avLst/>
          </a:prstGeom>
          <a:solidFill>
            <a:srgbClr val="1B2A4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305" name="Google Shape;305;p28"/>
          <p:cNvSpPr txBox="1"/>
          <p:nvPr/>
        </p:nvSpPr>
        <p:spPr>
          <a:xfrm>
            <a:off x="548640" y="685800"/>
            <a:ext cx="80238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400">
                <a:solidFill>
                  <a:srgbClr val="C8102E"/>
                </a:solidFill>
                <a:latin typeface="Open Sans"/>
                <a:ea typeface="Open Sans"/>
                <a:cs typeface="Open Sans"/>
                <a:sym typeface="Open Sans"/>
              </a:rPr>
              <a:t>🟢  CODE-ALONG</a:t>
            </a:r>
            <a:endParaRPr sz="1100"/>
          </a:p>
        </p:txBody>
      </p:sp>
      <p:sp>
        <p:nvSpPr>
          <p:cNvPr id="306" name="Google Shape;306;p28"/>
          <p:cNvSpPr txBox="1"/>
          <p:nvPr/>
        </p:nvSpPr>
        <p:spPr>
          <a:xfrm>
            <a:off x="548640" y="1097280"/>
            <a:ext cx="80238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2400">
                <a:solidFill>
                  <a:srgbClr val="FFFFFF"/>
                </a:solidFill>
                <a:latin typeface="Consolas"/>
                <a:ea typeface="Consolas"/>
                <a:cs typeface="Consolas"/>
                <a:sym typeface="Consolas"/>
              </a:rPr>
              <a:t>Open:</a:t>
            </a:r>
            <a:r>
              <a:rPr b="1" lang="en-GB" sz="2400">
                <a:solidFill>
                  <a:srgbClr val="FFFFFF"/>
                </a:solidFill>
                <a:latin typeface="Consolas"/>
                <a:ea typeface="Consolas"/>
                <a:cs typeface="Consolas"/>
                <a:sym typeface="Consolas"/>
              </a:rPr>
              <a:t xml:space="preserve"> </a:t>
            </a:r>
            <a:r>
              <a:rPr b="1" lang="en-GB" sz="2400">
                <a:solidFill>
                  <a:srgbClr val="00FF00"/>
                </a:solidFill>
                <a:latin typeface="Consolas"/>
                <a:ea typeface="Consolas"/>
                <a:cs typeface="Consolas"/>
                <a:sym typeface="Consolas"/>
              </a:rPr>
              <a:t>02_preprocessing.ipynb</a:t>
            </a:r>
            <a:endParaRPr sz="1100">
              <a:solidFill>
                <a:srgbClr val="00FF00"/>
              </a:solidFill>
            </a:endParaRPr>
          </a:p>
        </p:txBody>
      </p:sp>
      <p:sp>
        <p:nvSpPr>
          <p:cNvPr id="307" name="Google Shape;307;p28"/>
          <p:cNvSpPr txBox="1"/>
          <p:nvPr/>
        </p:nvSpPr>
        <p:spPr>
          <a:xfrm>
            <a:off x="548640" y="2068141"/>
            <a:ext cx="80238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700">
                <a:solidFill>
                  <a:srgbClr val="F4F5F7"/>
                </a:solidFill>
                <a:latin typeface="Open Sans"/>
                <a:ea typeface="Open Sans"/>
                <a:cs typeface="Open Sans"/>
                <a:sym typeface="Open Sans"/>
              </a:rPr>
              <a:t>What you'll do</a:t>
            </a:r>
            <a:endParaRPr sz="1100"/>
          </a:p>
        </p:txBody>
      </p:sp>
      <p:sp>
        <p:nvSpPr>
          <p:cNvPr id="308" name="Google Shape;308;p28"/>
          <p:cNvSpPr txBox="1"/>
          <p:nvPr/>
        </p:nvSpPr>
        <p:spPr>
          <a:xfrm>
            <a:off x="685800" y="2537460"/>
            <a:ext cx="78867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400">
                <a:solidFill>
                  <a:srgbClr val="FFFFFF"/>
                </a:solidFill>
                <a:latin typeface="Open Sans"/>
                <a:ea typeface="Open Sans"/>
                <a:cs typeface="Open Sans"/>
                <a:sym typeface="Open Sans"/>
              </a:rPr>
              <a:t>1.  Split before preprocessing — using stratify=y to preserve class balance.</a:t>
            </a:r>
            <a:endParaRPr sz="1100"/>
          </a:p>
        </p:txBody>
      </p:sp>
      <p:sp>
        <p:nvSpPr>
          <p:cNvPr id="309" name="Google Shape;309;p28"/>
          <p:cNvSpPr txBox="1"/>
          <p:nvPr/>
        </p:nvSpPr>
        <p:spPr>
          <a:xfrm>
            <a:off x="685800" y="2914650"/>
            <a:ext cx="78867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400">
                <a:solidFill>
                  <a:srgbClr val="FFFFFF"/>
                </a:solidFill>
                <a:latin typeface="Open Sans"/>
                <a:ea typeface="Open Sans"/>
                <a:cs typeface="Open Sans"/>
                <a:sym typeface="Open Sans"/>
              </a:rPr>
              <a:t>2.  Build a ColumnTransformer for the 8 numeric + 2 categorical columns.</a:t>
            </a:r>
            <a:endParaRPr sz="1100"/>
          </a:p>
        </p:txBody>
      </p:sp>
      <p:sp>
        <p:nvSpPr>
          <p:cNvPr id="310" name="Google Shape;310;p28"/>
          <p:cNvSpPr txBox="1"/>
          <p:nvPr/>
        </p:nvSpPr>
        <p:spPr>
          <a:xfrm>
            <a:off x="685800" y="3291840"/>
            <a:ext cx="78867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400">
                <a:solidFill>
                  <a:srgbClr val="FFFFFF"/>
                </a:solidFill>
                <a:latin typeface="Open Sans"/>
                <a:ea typeface="Open Sans"/>
                <a:cs typeface="Open Sans"/>
                <a:sym typeface="Open Sans"/>
              </a:rPr>
              <a:t>3.  Apply the preprocessor and inspect the result (10 columns → 17 columns).</a:t>
            </a:r>
            <a:endParaRPr sz="1100"/>
          </a:p>
        </p:txBody>
      </p:sp>
      <p:sp>
        <p:nvSpPr>
          <p:cNvPr id="311" name="Google Shape;311;p28"/>
          <p:cNvSpPr/>
          <p:nvPr/>
        </p:nvSpPr>
        <p:spPr>
          <a:xfrm>
            <a:off x="548650" y="3909050"/>
            <a:ext cx="8023800" cy="5424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312" name="Google Shape;312;p28"/>
          <p:cNvSpPr txBox="1"/>
          <p:nvPr/>
        </p:nvSpPr>
        <p:spPr>
          <a:xfrm>
            <a:off x="685800" y="4046220"/>
            <a:ext cx="78867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400">
                <a:solidFill>
                  <a:srgbClr val="FFFFFF"/>
                </a:solidFill>
                <a:latin typeface="Open Sans"/>
                <a:ea typeface="Open Sans"/>
                <a:cs typeface="Open Sans"/>
                <a:sym typeface="Open Sans"/>
              </a:rPr>
              <a:t>⏱  30 minutes  ·  Stop at the 🟡 Extension marker  ·  Extension is self-paced</a:t>
            </a:r>
            <a:endParaRPr sz="11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9"/>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Open Sans"/>
              <a:ea typeface="Open Sans"/>
              <a:cs typeface="Open Sans"/>
              <a:sym typeface="Open Sans"/>
            </a:endParaRPr>
          </a:p>
        </p:txBody>
      </p:sp>
      <p:sp>
        <p:nvSpPr>
          <p:cNvPr id="319" name="Google Shape;319;p29"/>
          <p:cNvSpPr/>
          <p:nvPr/>
        </p:nvSpPr>
        <p:spPr>
          <a:xfrm>
            <a:off x="0" y="0"/>
            <a:ext cx="9143700" cy="1098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320" name="Google Shape;320;p29"/>
          <p:cNvSpPr txBox="1"/>
          <p:nvPr/>
        </p:nvSpPr>
        <p:spPr>
          <a:xfrm>
            <a:off x="411480" y="240030"/>
            <a:ext cx="82296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2300">
                <a:solidFill>
                  <a:srgbClr val="1B2A4A"/>
                </a:solidFill>
                <a:latin typeface="Open Sans"/>
                <a:ea typeface="Open Sans"/>
                <a:cs typeface="Open Sans"/>
                <a:sym typeface="Open Sans"/>
              </a:rPr>
              <a:t>Logistic Regression</a:t>
            </a:r>
            <a:endParaRPr sz="1100"/>
          </a:p>
        </p:txBody>
      </p:sp>
      <p:sp>
        <p:nvSpPr>
          <p:cNvPr id="321" name="Google Shape;321;p29"/>
          <p:cNvSpPr txBox="1"/>
          <p:nvPr/>
        </p:nvSpPr>
        <p:spPr>
          <a:xfrm>
            <a:off x="411480" y="685800"/>
            <a:ext cx="822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The right baseline for classification</a:t>
            </a:r>
            <a:endParaRPr sz="1100"/>
          </a:p>
        </p:txBody>
      </p:sp>
      <p:sp>
        <p:nvSpPr>
          <p:cNvPr id="322" name="Google Shape;322;p29"/>
          <p:cNvSpPr txBox="1"/>
          <p:nvPr/>
        </p:nvSpPr>
        <p:spPr>
          <a:xfrm>
            <a:off x="4648347" y="1686525"/>
            <a:ext cx="3386400" cy="82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Font typeface="Arial"/>
              <a:buNone/>
            </a:pPr>
            <a:r>
              <a:rPr b="1" lang="en-GB" sz="1300">
                <a:solidFill>
                  <a:schemeClr val="dk1"/>
                </a:solidFill>
                <a:latin typeface="Consolas"/>
                <a:ea typeface="Consolas"/>
                <a:cs typeface="Consolas"/>
                <a:sym typeface="Consolas"/>
              </a:rPr>
              <a:t>(sigmoid → squashes to [0, 1])</a:t>
            </a:r>
            <a:endParaRPr sz="1300">
              <a:solidFill>
                <a:schemeClr val="dk1"/>
              </a:solidFill>
              <a:latin typeface="Consolas"/>
              <a:ea typeface="Consolas"/>
              <a:cs typeface="Consolas"/>
              <a:sym typeface="Consolas"/>
            </a:endParaRPr>
          </a:p>
          <a:p>
            <a:pPr indent="0" lvl="0" marL="0" marR="0" rtl="0" algn="l">
              <a:lnSpc>
                <a:spcPct val="150000"/>
              </a:lnSpc>
              <a:spcBef>
                <a:spcPts val="1000"/>
              </a:spcBef>
              <a:spcAft>
                <a:spcPts val="0"/>
              </a:spcAft>
              <a:buNone/>
            </a:pPr>
            <a:r>
              <a:rPr b="0" lang="en-GB" sz="1300">
                <a:solidFill>
                  <a:schemeClr val="dk1"/>
                </a:solidFill>
                <a:latin typeface="Consolas"/>
                <a:ea typeface="Consolas"/>
                <a:cs typeface="Consolas"/>
                <a:sym typeface="Consolas"/>
              </a:rPr>
              <a:t>label = 1, if prob ≥ threshold</a:t>
            </a:r>
            <a:endParaRPr b="0" sz="1300">
              <a:solidFill>
                <a:schemeClr val="dk1"/>
              </a:solidFill>
              <a:latin typeface="Consolas"/>
              <a:ea typeface="Consolas"/>
              <a:cs typeface="Consolas"/>
              <a:sym typeface="Consolas"/>
            </a:endParaRPr>
          </a:p>
          <a:p>
            <a:pPr indent="0" lvl="0" marL="914400" marR="0" rtl="0" algn="l">
              <a:lnSpc>
                <a:spcPct val="150000"/>
              </a:lnSpc>
              <a:spcBef>
                <a:spcPts val="0"/>
              </a:spcBef>
              <a:spcAft>
                <a:spcPts val="0"/>
              </a:spcAft>
              <a:buNone/>
            </a:pPr>
            <a:r>
              <a:rPr lang="en-GB" sz="1300">
                <a:solidFill>
                  <a:schemeClr val="dk1"/>
                </a:solidFill>
                <a:latin typeface="Consolas"/>
                <a:ea typeface="Consolas"/>
                <a:cs typeface="Consolas"/>
                <a:sym typeface="Consolas"/>
              </a:rPr>
              <a:t xml:space="preserve"> </a:t>
            </a:r>
            <a:r>
              <a:rPr b="0" lang="en-GB" sz="1300">
                <a:solidFill>
                  <a:schemeClr val="dk1"/>
                </a:solidFill>
                <a:latin typeface="Consolas"/>
                <a:ea typeface="Consolas"/>
                <a:cs typeface="Consolas"/>
                <a:sym typeface="Consolas"/>
              </a:rPr>
              <a:t>else 0</a:t>
            </a:r>
            <a:endParaRPr sz="1300">
              <a:solidFill>
                <a:schemeClr val="dk1"/>
              </a:solidFill>
            </a:endParaRPr>
          </a:p>
        </p:txBody>
      </p:sp>
      <p:sp>
        <p:nvSpPr>
          <p:cNvPr id="323" name="Google Shape;323;p29"/>
          <p:cNvSpPr/>
          <p:nvPr/>
        </p:nvSpPr>
        <p:spPr>
          <a:xfrm>
            <a:off x="411480" y="2871271"/>
            <a:ext cx="8298300" cy="1861200"/>
          </a:xfrm>
          <a:prstGeom prst="rect">
            <a:avLst/>
          </a:prstGeom>
          <a:solidFill>
            <a:srgbClr val="F4F5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324" name="Google Shape;324;p29"/>
          <p:cNvSpPr txBox="1"/>
          <p:nvPr/>
        </p:nvSpPr>
        <p:spPr>
          <a:xfrm>
            <a:off x="617220" y="2974141"/>
            <a:ext cx="78867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500">
                <a:solidFill>
                  <a:srgbClr val="1B2A4A"/>
                </a:solidFill>
                <a:latin typeface="Open Sans"/>
                <a:ea typeface="Open Sans"/>
                <a:cs typeface="Open Sans"/>
                <a:sym typeface="Open Sans"/>
              </a:rPr>
              <a:t>Why we start here</a:t>
            </a:r>
            <a:endParaRPr sz="1500">
              <a:latin typeface="Open Sans"/>
              <a:ea typeface="Open Sans"/>
              <a:cs typeface="Open Sans"/>
              <a:sym typeface="Open Sans"/>
            </a:endParaRPr>
          </a:p>
        </p:txBody>
      </p:sp>
      <p:grpSp>
        <p:nvGrpSpPr>
          <p:cNvPr id="325" name="Google Shape;325;p29"/>
          <p:cNvGrpSpPr/>
          <p:nvPr/>
        </p:nvGrpSpPr>
        <p:grpSpPr>
          <a:xfrm>
            <a:off x="628650" y="3421666"/>
            <a:ext cx="7886700" cy="1023060"/>
            <a:chOff x="628650" y="3421666"/>
            <a:chExt cx="7886700" cy="1023060"/>
          </a:xfrm>
        </p:grpSpPr>
        <p:sp>
          <p:nvSpPr>
            <p:cNvPr id="326" name="Google Shape;326;p29"/>
            <p:cNvSpPr txBox="1"/>
            <p:nvPr/>
          </p:nvSpPr>
          <p:spPr>
            <a:xfrm>
              <a:off x="628650" y="3421666"/>
              <a:ext cx="78867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300">
                  <a:solidFill>
                    <a:srgbClr val="333D4D"/>
                  </a:solidFill>
                  <a:latin typeface="Open Sans"/>
                  <a:ea typeface="Open Sans"/>
                  <a:cs typeface="Open Sans"/>
                  <a:sym typeface="Open Sans"/>
                </a:rPr>
                <a:t xml:space="preserve">✓  </a:t>
              </a:r>
              <a:r>
                <a:rPr b="1" lang="en-GB" sz="1300">
                  <a:solidFill>
                    <a:srgbClr val="333D4D"/>
                  </a:solidFill>
                  <a:latin typeface="Open Sans"/>
                  <a:ea typeface="Open Sans"/>
                  <a:cs typeface="Open Sans"/>
                  <a:sym typeface="Open Sans"/>
                </a:rPr>
                <a:t>Output is a PROBABILITY</a:t>
              </a:r>
              <a:r>
                <a:rPr lang="en-GB" sz="1300">
                  <a:solidFill>
                    <a:srgbClr val="333D4D"/>
                  </a:solidFill>
                  <a:latin typeface="Open Sans"/>
                  <a:ea typeface="Open Sans"/>
                  <a:cs typeface="Open Sans"/>
                  <a:sym typeface="Open Sans"/>
                </a:rPr>
                <a:t xml:space="preserve"> — enables business-aware threshold choice (notebook 04)</a:t>
              </a:r>
              <a:endParaRPr sz="1300">
                <a:latin typeface="Open Sans"/>
                <a:ea typeface="Open Sans"/>
                <a:cs typeface="Open Sans"/>
                <a:sym typeface="Open Sans"/>
              </a:endParaRPr>
            </a:p>
          </p:txBody>
        </p:sp>
        <p:sp>
          <p:nvSpPr>
            <p:cNvPr id="327" name="Google Shape;327;p29"/>
            <p:cNvSpPr txBox="1"/>
            <p:nvPr/>
          </p:nvSpPr>
          <p:spPr>
            <a:xfrm>
              <a:off x="628650" y="3695986"/>
              <a:ext cx="78867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300">
                  <a:solidFill>
                    <a:srgbClr val="333D4D"/>
                  </a:solidFill>
                  <a:latin typeface="Open Sans"/>
                  <a:ea typeface="Open Sans"/>
                  <a:cs typeface="Open Sans"/>
                  <a:sym typeface="Open Sans"/>
                </a:rPr>
                <a:t xml:space="preserve">✓  </a:t>
              </a:r>
              <a:r>
                <a:rPr b="1" lang="en-GB" sz="1300">
                  <a:solidFill>
                    <a:srgbClr val="333D4D"/>
                  </a:solidFill>
                  <a:latin typeface="Open Sans"/>
                  <a:ea typeface="Open Sans"/>
                  <a:cs typeface="Open Sans"/>
                  <a:sym typeface="Open Sans"/>
                </a:rPr>
                <a:t>Coefficients are INTERPRETABLE</a:t>
              </a:r>
              <a:r>
                <a:rPr lang="en-GB" sz="1300">
                  <a:solidFill>
                    <a:srgbClr val="333D4D"/>
                  </a:solidFill>
                  <a:latin typeface="Open Sans"/>
                  <a:ea typeface="Open Sans"/>
                  <a:cs typeface="Open Sans"/>
                  <a:sym typeface="Open Sans"/>
                </a:rPr>
                <a:t xml:space="preserve"> — explain why the model predicts what it predicts</a:t>
              </a:r>
              <a:endParaRPr sz="1300">
                <a:latin typeface="Open Sans"/>
                <a:ea typeface="Open Sans"/>
                <a:cs typeface="Open Sans"/>
                <a:sym typeface="Open Sans"/>
              </a:endParaRPr>
            </a:p>
          </p:txBody>
        </p:sp>
        <p:sp>
          <p:nvSpPr>
            <p:cNvPr id="328" name="Google Shape;328;p29"/>
            <p:cNvSpPr txBox="1"/>
            <p:nvPr/>
          </p:nvSpPr>
          <p:spPr>
            <a:xfrm>
              <a:off x="628650" y="3970306"/>
              <a:ext cx="78867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300">
                  <a:solidFill>
                    <a:srgbClr val="333D4D"/>
                  </a:solidFill>
                  <a:latin typeface="Open Sans"/>
                  <a:ea typeface="Open Sans"/>
                  <a:cs typeface="Open Sans"/>
                  <a:sym typeface="Open Sans"/>
                </a:rPr>
                <a:t xml:space="preserve">✓  </a:t>
              </a:r>
              <a:r>
                <a:rPr b="1" lang="en-GB" sz="1300">
                  <a:solidFill>
                    <a:srgbClr val="333D4D"/>
                  </a:solidFill>
                  <a:latin typeface="Open Sans"/>
                  <a:ea typeface="Open Sans"/>
                  <a:cs typeface="Open Sans"/>
                  <a:sym typeface="Open Sans"/>
                </a:rPr>
                <a:t>Fast to train</a:t>
              </a:r>
              <a:r>
                <a:rPr lang="en-GB" sz="1300">
                  <a:solidFill>
                    <a:srgbClr val="333D4D"/>
                  </a:solidFill>
                  <a:latin typeface="Open Sans"/>
                  <a:ea typeface="Open Sans"/>
                  <a:cs typeface="Open Sans"/>
                  <a:sym typeface="Open Sans"/>
                </a:rPr>
                <a:t xml:space="preserve"> — minutes, not hours, on millions of rows</a:t>
              </a:r>
              <a:endParaRPr sz="1300">
                <a:latin typeface="Open Sans"/>
                <a:ea typeface="Open Sans"/>
                <a:cs typeface="Open Sans"/>
                <a:sym typeface="Open Sans"/>
              </a:endParaRPr>
            </a:p>
          </p:txBody>
        </p:sp>
        <p:sp>
          <p:nvSpPr>
            <p:cNvPr id="329" name="Google Shape;329;p29"/>
            <p:cNvSpPr txBox="1"/>
            <p:nvPr/>
          </p:nvSpPr>
          <p:spPr>
            <a:xfrm>
              <a:off x="628650" y="4244626"/>
              <a:ext cx="78867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300">
                  <a:solidFill>
                    <a:srgbClr val="333D4D"/>
                  </a:solidFill>
                  <a:latin typeface="Open Sans"/>
                  <a:ea typeface="Open Sans"/>
                  <a:cs typeface="Open Sans"/>
                  <a:sym typeface="Open Sans"/>
                </a:rPr>
                <a:t xml:space="preserve">✓  </a:t>
              </a:r>
              <a:r>
                <a:rPr b="1" lang="en-GB" sz="1300">
                  <a:solidFill>
                    <a:srgbClr val="333D4D"/>
                  </a:solidFill>
                  <a:latin typeface="Open Sans"/>
                  <a:ea typeface="Open Sans"/>
                  <a:cs typeface="Open Sans"/>
                  <a:sym typeface="Open Sans"/>
                </a:rPr>
                <a:t>Widely used in industry</a:t>
              </a:r>
              <a:r>
                <a:rPr lang="en-GB" sz="1300">
                  <a:solidFill>
                    <a:srgbClr val="333D4D"/>
                  </a:solidFill>
                  <a:latin typeface="Open Sans"/>
                  <a:ea typeface="Open Sans"/>
                  <a:cs typeface="Open Sans"/>
                  <a:sym typeface="Open Sans"/>
                </a:rPr>
                <a:t xml:space="preserve"> — every data scientist understands it</a:t>
              </a:r>
              <a:endParaRPr sz="1300">
                <a:latin typeface="Open Sans"/>
                <a:ea typeface="Open Sans"/>
                <a:cs typeface="Open Sans"/>
                <a:sym typeface="Open Sans"/>
              </a:endParaRPr>
            </a:p>
          </p:txBody>
        </p:sp>
      </p:grpSp>
      <p:pic>
        <p:nvPicPr>
          <p:cNvPr id="330" name="Google Shape;330;p29"/>
          <p:cNvPicPr preferRelativeResize="0"/>
          <p:nvPr/>
        </p:nvPicPr>
        <p:blipFill>
          <a:blip r:embed="rId3">
            <a:alphaModFix/>
          </a:blip>
          <a:stretch>
            <a:fillRect/>
          </a:stretch>
        </p:blipFill>
        <p:spPr>
          <a:xfrm>
            <a:off x="411475" y="1210075"/>
            <a:ext cx="3934207" cy="15475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31"/>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Open Sans"/>
              <a:ea typeface="Open Sans"/>
              <a:cs typeface="Open Sans"/>
              <a:sym typeface="Open Sans"/>
            </a:endParaRPr>
          </a:p>
        </p:txBody>
      </p:sp>
      <p:sp>
        <p:nvSpPr>
          <p:cNvPr id="372" name="Google Shape;372;p31"/>
          <p:cNvSpPr/>
          <p:nvPr/>
        </p:nvSpPr>
        <p:spPr>
          <a:xfrm>
            <a:off x="0" y="0"/>
            <a:ext cx="9143700" cy="1098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373" name="Google Shape;373;p31"/>
          <p:cNvSpPr txBox="1"/>
          <p:nvPr/>
        </p:nvSpPr>
        <p:spPr>
          <a:xfrm>
            <a:off x="411480" y="240030"/>
            <a:ext cx="82296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2300">
                <a:solidFill>
                  <a:srgbClr val="1B2A4A"/>
                </a:solidFill>
                <a:latin typeface="Open Sans"/>
                <a:ea typeface="Open Sans"/>
                <a:cs typeface="Open Sans"/>
                <a:sym typeface="Open Sans"/>
              </a:rPr>
              <a:t>Train/Test Split</a:t>
            </a:r>
            <a:endParaRPr sz="1100"/>
          </a:p>
        </p:txBody>
      </p:sp>
      <p:sp>
        <p:nvSpPr>
          <p:cNvPr id="374" name="Google Shape;374;p31"/>
          <p:cNvSpPr txBox="1"/>
          <p:nvPr/>
        </p:nvSpPr>
        <p:spPr>
          <a:xfrm>
            <a:off x="411480" y="685800"/>
            <a:ext cx="822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Holding back 20% as the honest evaluator</a:t>
            </a:r>
            <a:endParaRPr sz="1100"/>
          </a:p>
        </p:txBody>
      </p:sp>
      <p:sp>
        <p:nvSpPr>
          <p:cNvPr id="375" name="Google Shape;375;p31"/>
          <p:cNvSpPr/>
          <p:nvPr/>
        </p:nvSpPr>
        <p:spPr>
          <a:xfrm>
            <a:off x="411480" y="1165031"/>
            <a:ext cx="8298300" cy="971100"/>
          </a:xfrm>
          <a:prstGeom prst="rect">
            <a:avLst/>
          </a:prstGeom>
          <a:solidFill>
            <a:srgbClr val="F4F5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376" name="Google Shape;376;p31"/>
          <p:cNvSpPr txBox="1"/>
          <p:nvPr/>
        </p:nvSpPr>
        <p:spPr>
          <a:xfrm>
            <a:off x="617220" y="1233611"/>
            <a:ext cx="78867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300">
                <a:solidFill>
                  <a:srgbClr val="1B2A4A"/>
                </a:solidFill>
                <a:latin typeface="Open Sans"/>
                <a:ea typeface="Open Sans"/>
                <a:cs typeface="Open Sans"/>
                <a:sym typeface="Open Sans"/>
              </a:rPr>
              <a:t>Full dataset (10,000 customers)</a:t>
            </a:r>
            <a:endParaRPr sz="1100"/>
          </a:p>
        </p:txBody>
      </p:sp>
      <p:sp>
        <p:nvSpPr>
          <p:cNvPr id="377" name="Google Shape;377;p31"/>
          <p:cNvSpPr/>
          <p:nvPr/>
        </p:nvSpPr>
        <p:spPr>
          <a:xfrm>
            <a:off x="617225" y="1507925"/>
            <a:ext cx="6225000" cy="445200"/>
          </a:xfrm>
          <a:prstGeom prst="rect">
            <a:avLst/>
          </a:prstGeom>
          <a:solidFill>
            <a:srgbClr val="1B2A4A"/>
          </a:solid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lang="en-GB" sz="1100">
                <a:solidFill>
                  <a:schemeClr val="lt1"/>
                </a:solidFill>
                <a:latin typeface="Open Sans"/>
                <a:ea typeface="Open Sans"/>
                <a:cs typeface="Open Sans"/>
                <a:sym typeface="Open Sans"/>
              </a:rPr>
              <a:t>TRAINING SET</a:t>
            </a:r>
            <a:r>
              <a:rPr b="1" lang="en-GB" sz="1100">
                <a:solidFill>
                  <a:schemeClr val="lt1"/>
                </a:solidFill>
                <a:latin typeface="Open Sans"/>
                <a:ea typeface="Open Sans"/>
                <a:cs typeface="Open Sans"/>
                <a:sym typeface="Open Sans"/>
              </a:rPr>
              <a:t xml:space="preserve"> — 80% (8,000 </a:t>
            </a:r>
            <a:r>
              <a:rPr lang="en-GB" sz="1100">
                <a:solidFill>
                  <a:schemeClr val="lt1"/>
                </a:solidFill>
                <a:latin typeface="Open Sans"/>
                <a:ea typeface="Open Sans"/>
                <a:cs typeface="Open Sans"/>
                <a:sym typeface="Open Sans"/>
              </a:rPr>
              <a:t>customers</a:t>
            </a:r>
            <a:r>
              <a:rPr b="1" lang="en-GB" sz="1100">
                <a:solidFill>
                  <a:schemeClr val="lt1"/>
                </a:solidFill>
                <a:latin typeface="Open Sans"/>
                <a:ea typeface="Open Sans"/>
                <a:cs typeface="Open Sans"/>
                <a:sym typeface="Open Sans"/>
              </a:rPr>
              <a:t>)</a:t>
            </a:r>
            <a:endParaRPr>
              <a:solidFill>
                <a:schemeClr val="lt1"/>
              </a:solidFill>
              <a:latin typeface="Open Sans"/>
              <a:ea typeface="Open Sans"/>
              <a:cs typeface="Open Sans"/>
              <a:sym typeface="Open Sans"/>
            </a:endParaRPr>
          </a:p>
        </p:txBody>
      </p:sp>
      <p:sp>
        <p:nvSpPr>
          <p:cNvPr id="378" name="Google Shape;378;p31"/>
          <p:cNvSpPr/>
          <p:nvPr/>
        </p:nvSpPr>
        <p:spPr>
          <a:xfrm>
            <a:off x="6926825" y="1502875"/>
            <a:ext cx="1577100" cy="445200"/>
          </a:xfrm>
          <a:prstGeom prst="rect">
            <a:avLst/>
          </a:prstGeom>
          <a:solidFill>
            <a:srgbClr val="2C5697"/>
          </a:solid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lang="en-GB" sz="1100">
                <a:solidFill>
                  <a:schemeClr val="lt1"/>
                </a:solidFill>
                <a:latin typeface="Open Sans"/>
                <a:ea typeface="Open Sans"/>
                <a:cs typeface="Open Sans"/>
                <a:sym typeface="Open Sans"/>
              </a:rPr>
              <a:t>TEST</a:t>
            </a:r>
            <a:r>
              <a:rPr b="1" lang="en-GB" sz="1100">
                <a:solidFill>
                  <a:schemeClr val="lt1"/>
                </a:solidFill>
                <a:latin typeface="Open Sans"/>
                <a:ea typeface="Open Sans"/>
                <a:cs typeface="Open Sans"/>
                <a:sym typeface="Open Sans"/>
              </a:rPr>
              <a:t xml:space="preserve"> 20%</a:t>
            </a:r>
            <a:endParaRPr>
              <a:solidFill>
                <a:schemeClr val="lt1"/>
              </a:solidFill>
              <a:latin typeface="Open Sans"/>
              <a:ea typeface="Open Sans"/>
              <a:cs typeface="Open Sans"/>
              <a:sym typeface="Open Sans"/>
            </a:endParaRPr>
          </a:p>
        </p:txBody>
      </p:sp>
      <p:sp>
        <p:nvSpPr>
          <p:cNvPr id="379" name="Google Shape;379;p31"/>
          <p:cNvSpPr txBox="1"/>
          <p:nvPr/>
        </p:nvSpPr>
        <p:spPr>
          <a:xfrm>
            <a:off x="411480" y="2262311"/>
            <a:ext cx="82983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500">
                <a:solidFill>
                  <a:srgbClr val="2C5697"/>
                </a:solidFill>
                <a:latin typeface="Open Sans"/>
                <a:ea typeface="Open Sans"/>
                <a:cs typeface="Open Sans"/>
                <a:sym typeface="Open Sans"/>
              </a:rPr>
              <a:t>The discipline</a:t>
            </a:r>
            <a:endParaRPr sz="1500"/>
          </a:p>
        </p:txBody>
      </p:sp>
      <p:sp>
        <p:nvSpPr>
          <p:cNvPr id="380" name="Google Shape;380;p31"/>
          <p:cNvSpPr txBox="1"/>
          <p:nvPr/>
        </p:nvSpPr>
        <p:spPr>
          <a:xfrm>
            <a:off x="480060" y="2673791"/>
            <a:ext cx="822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 xml:space="preserve">1.  Split using train_test_split </a:t>
            </a:r>
            <a:r>
              <a:rPr lang="en-GB" sz="1300">
                <a:solidFill>
                  <a:srgbClr val="333D4D"/>
                </a:solidFill>
                <a:latin typeface="Consolas"/>
                <a:ea typeface="Consolas"/>
                <a:cs typeface="Consolas"/>
                <a:sym typeface="Consolas"/>
              </a:rPr>
              <a:t>(X, y, test_size=0.20, stratify=y, random_state=42)</a:t>
            </a:r>
            <a:endParaRPr sz="1100">
              <a:latin typeface="Consolas"/>
              <a:ea typeface="Consolas"/>
              <a:cs typeface="Consolas"/>
              <a:sym typeface="Consolas"/>
            </a:endParaRPr>
          </a:p>
        </p:txBody>
      </p:sp>
      <p:sp>
        <p:nvSpPr>
          <p:cNvPr id="381" name="Google Shape;381;p31"/>
          <p:cNvSpPr txBox="1"/>
          <p:nvPr/>
        </p:nvSpPr>
        <p:spPr>
          <a:xfrm>
            <a:off x="480060" y="2982401"/>
            <a:ext cx="822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2.  Fit the preprocessor AND model on X_train, y_train ONLY</a:t>
            </a:r>
            <a:endParaRPr sz="1100"/>
          </a:p>
        </p:txBody>
      </p:sp>
      <p:sp>
        <p:nvSpPr>
          <p:cNvPr id="382" name="Google Shape;382;p31"/>
          <p:cNvSpPr txBox="1"/>
          <p:nvPr/>
        </p:nvSpPr>
        <p:spPr>
          <a:xfrm>
            <a:off x="480060" y="3291011"/>
            <a:ext cx="822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 xml:space="preserve">3.  Touch </a:t>
            </a:r>
            <a:r>
              <a:rPr lang="en-GB" sz="1300">
                <a:solidFill>
                  <a:srgbClr val="333D4D"/>
                </a:solidFill>
                <a:latin typeface="Consolas"/>
                <a:ea typeface="Consolas"/>
                <a:cs typeface="Consolas"/>
                <a:sym typeface="Consolas"/>
              </a:rPr>
              <a:t>X_test</a:t>
            </a:r>
            <a:r>
              <a:rPr b="0" lang="en-GB" sz="1300">
                <a:solidFill>
                  <a:srgbClr val="333D4D"/>
                </a:solidFill>
                <a:latin typeface="Open Sans"/>
                <a:ea typeface="Open Sans"/>
                <a:cs typeface="Open Sans"/>
                <a:sym typeface="Open Sans"/>
              </a:rPr>
              <a:t xml:space="preserve"> only for the final score — once.</a:t>
            </a:r>
            <a:endParaRPr sz="1100"/>
          </a:p>
        </p:txBody>
      </p:sp>
      <p:sp>
        <p:nvSpPr>
          <p:cNvPr id="383" name="Google Shape;383;p31"/>
          <p:cNvSpPr txBox="1"/>
          <p:nvPr/>
        </p:nvSpPr>
        <p:spPr>
          <a:xfrm>
            <a:off x="480060" y="3599621"/>
            <a:ext cx="822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4.  Never refit anything based on what you see on the test set</a:t>
            </a:r>
            <a:endParaRPr sz="1100"/>
          </a:p>
        </p:txBody>
      </p:sp>
      <p:sp>
        <p:nvSpPr>
          <p:cNvPr id="384" name="Google Shape;384;p31"/>
          <p:cNvSpPr/>
          <p:nvPr/>
        </p:nvSpPr>
        <p:spPr>
          <a:xfrm>
            <a:off x="411480" y="4113971"/>
            <a:ext cx="8298300" cy="566700"/>
          </a:xfrm>
          <a:prstGeom prst="rect">
            <a:avLst/>
          </a:prstGeom>
          <a:solidFill>
            <a:srgbClr val="1B2A4A"/>
          </a:solid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GB" sz="1200">
                <a:solidFill>
                  <a:srgbClr val="DDE1E6"/>
                </a:solidFill>
                <a:latin typeface="Consolas"/>
                <a:ea typeface="Consolas"/>
                <a:cs typeface="Consolas"/>
                <a:sym typeface="Consolas"/>
              </a:rPr>
              <a:t>stratify=y</a:t>
            </a:r>
            <a:r>
              <a:rPr lang="en-GB" sz="1200">
                <a:solidFill>
                  <a:srgbClr val="DDE1E6"/>
                </a:solidFill>
                <a:latin typeface="Open Sans"/>
                <a:ea typeface="Open Sans"/>
                <a:cs typeface="Open Sans"/>
                <a:sym typeface="Open Sans"/>
              </a:rPr>
              <a:t xml:space="preserve"> preserves the 88/12 class balance in both splits — critical when imbalanced.</a:t>
            </a:r>
            <a:endParaRPr>
              <a:solidFill>
                <a:schemeClr val="lt1"/>
              </a:solidFill>
              <a:latin typeface="Open Sans"/>
              <a:ea typeface="Open Sans"/>
              <a:cs typeface="Open Sans"/>
              <a:sym typeface="Open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34"/>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Open Sans"/>
              <a:ea typeface="Open Sans"/>
              <a:cs typeface="Open Sans"/>
              <a:sym typeface="Open Sans"/>
            </a:endParaRPr>
          </a:p>
        </p:txBody>
      </p:sp>
      <p:sp>
        <p:nvSpPr>
          <p:cNvPr id="475" name="Google Shape;475;p34"/>
          <p:cNvSpPr/>
          <p:nvPr/>
        </p:nvSpPr>
        <p:spPr>
          <a:xfrm>
            <a:off x="0" y="0"/>
            <a:ext cx="9143700" cy="1098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476" name="Google Shape;476;p34"/>
          <p:cNvSpPr txBox="1"/>
          <p:nvPr/>
        </p:nvSpPr>
        <p:spPr>
          <a:xfrm>
            <a:off x="411480" y="240030"/>
            <a:ext cx="82296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2300">
                <a:solidFill>
                  <a:srgbClr val="1B2A4A"/>
                </a:solidFill>
                <a:latin typeface="Open Sans"/>
                <a:ea typeface="Open Sans"/>
                <a:cs typeface="Open Sans"/>
                <a:sym typeface="Open Sans"/>
              </a:rPr>
              <a:t>Accuracy is a Lie</a:t>
            </a:r>
            <a:endParaRPr sz="1100"/>
          </a:p>
        </p:txBody>
      </p:sp>
      <p:sp>
        <p:nvSpPr>
          <p:cNvPr id="477" name="Google Shape;477;p34"/>
          <p:cNvSpPr txBox="1"/>
          <p:nvPr/>
        </p:nvSpPr>
        <p:spPr>
          <a:xfrm>
            <a:off x="411480" y="685800"/>
            <a:ext cx="822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On imbalanced data, accuracy ≈ majority-class rate</a:t>
            </a:r>
            <a:endParaRPr sz="1100"/>
          </a:p>
        </p:txBody>
      </p:sp>
      <p:sp>
        <p:nvSpPr>
          <p:cNvPr id="478" name="Google Shape;478;p34"/>
          <p:cNvSpPr/>
          <p:nvPr/>
        </p:nvSpPr>
        <p:spPr>
          <a:xfrm>
            <a:off x="411475" y="1148500"/>
            <a:ext cx="3984000" cy="2037600"/>
          </a:xfrm>
          <a:prstGeom prst="rect">
            <a:avLst/>
          </a:prstGeom>
          <a:solidFill>
            <a:srgbClr val="F4F5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479" name="Google Shape;479;p34"/>
          <p:cNvSpPr txBox="1"/>
          <p:nvPr/>
        </p:nvSpPr>
        <p:spPr>
          <a:xfrm>
            <a:off x="582930" y="1251377"/>
            <a:ext cx="37719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400">
                <a:solidFill>
                  <a:srgbClr val="1B2A4A"/>
                </a:solidFill>
                <a:latin typeface="Open Sans"/>
                <a:ea typeface="Open Sans"/>
                <a:cs typeface="Open Sans"/>
                <a:sym typeface="Open Sans"/>
              </a:rPr>
              <a:t>Our trained model</a:t>
            </a:r>
            <a:endParaRPr sz="1100"/>
          </a:p>
        </p:txBody>
      </p:sp>
      <p:sp>
        <p:nvSpPr>
          <p:cNvPr id="480" name="Google Shape;480;p34"/>
          <p:cNvSpPr txBox="1"/>
          <p:nvPr/>
        </p:nvSpPr>
        <p:spPr>
          <a:xfrm>
            <a:off x="411475" y="1765725"/>
            <a:ext cx="3984000" cy="692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4500">
                <a:solidFill>
                  <a:srgbClr val="1B2A4A"/>
                </a:solidFill>
                <a:latin typeface="Open Sans"/>
                <a:ea typeface="Open Sans"/>
                <a:cs typeface="Open Sans"/>
                <a:sym typeface="Open Sans"/>
              </a:rPr>
              <a:t>0.883</a:t>
            </a:r>
            <a:endParaRPr sz="1100"/>
          </a:p>
        </p:txBody>
      </p:sp>
      <p:sp>
        <p:nvSpPr>
          <p:cNvPr id="481" name="Google Shape;481;p34"/>
          <p:cNvSpPr txBox="1"/>
          <p:nvPr/>
        </p:nvSpPr>
        <p:spPr>
          <a:xfrm>
            <a:off x="411475" y="2657275"/>
            <a:ext cx="3984000" cy="200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GB" sz="1300">
                <a:solidFill>
                  <a:srgbClr val="333D4D"/>
                </a:solidFill>
                <a:latin typeface="Open Sans"/>
                <a:ea typeface="Open Sans"/>
                <a:cs typeface="Open Sans"/>
                <a:sym typeface="Open Sans"/>
              </a:rPr>
              <a:t>CV accuracy</a:t>
            </a:r>
            <a:endParaRPr sz="1300">
              <a:latin typeface="Open Sans"/>
              <a:ea typeface="Open Sans"/>
              <a:cs typeface="Open Sans"/>
              <a:sym typeface="Open Sans"/>
            </a:endParaRPr>
          </a:p>
        </p:txBody>
      </p:sp>
      <p:sp>
        <p:nvSpPr>
          <p:cNvPr id="482" name="Google Shape;482;p34"/>
          <p:cNvSpPr/>
          <p:nvPr/>
        </p:nvSpPr>
        <p:spPr>
          <a:xfrm>
            <a:off x="4613125" y="1148500"/>
            <a:ext cx="4081200" cy="2037600"/>
          </a:xfrm>
          <a:prstGeom prst="rect">
            <a:avLst/>
          </a:prstGeom>
          <a:solidFill>
            <a:srgbClr val="1B2A4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483" name="Google Shape;483;p34"/>
          <p:cNvSpPr txBox="1"/>
          <p:nvPr/>
        </p:nvSpPr>
        <p:spPr>
          <a:xfrm>
            <a:off x="4734498" y="1251377"/>
            <a:ext cx="37719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400">
                <a:solidFill>
                  <a:srgbClr val="FFFFFF"/>
                </a:solidFill>
                <a:latin typeface="Open Sans"/>
                <a:ea typeface="Open Sans"/>
                <a:cs typeface="Open Sans"/>
                <a:sym typeface="Open Sans"/>
              </a:rPr>
              <a:t xml:space="preserve">Dummy classifier </a:t>
            </a:r>
            <a:r>
              <a:rPr lang="en-GB" sz="1400">
                <a:solidFill>
                  <a:srgbClr val="FFFFFF"/>
                </a:solidFill>
                <a:latin typeface="Open Sans"/>
                <a:ea typeface="Open Sans"/>
                <a:cs typeface="Open Sans"/>
                <a:sym typeface="Open Sans"/>
              </a:rPr>
              <a:t>(always 'stayed')</a:t>
            </a:r>
            <a:endParaRPr sz="1100"/>
          </a:p>
        </p:txBody>
      </p:sp>
      <p:sp>
        <p:nvSpPr>
          <p:cNvPr id="484" name="Google Shape;484;p34"/>
          <p:cNvSpPr txBox="1"/>
          <p:nvPr/>
        </p:nvSpPr>
        <p:spPr>
          <a:xfrm>
            <a:off x="4734498" y="1765727"/>
            <a:ext cx="3771900" cy="692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4500">
                <a:solidFill>
                  <a:schemeClr val="lt1"/>
                </a:solidFill>
                <a:latin typeface="Open Sans"/>
                <a:ea typeface="Open Sans"/>
                <a:cs typeface="Open Sans"/>
                <a:sym typeface="Open Sans"/>
              </a:rPr>
              <a:t>0.880</a:t>
            </a:r>
            <a:endParaRPr sz="1100">
              <a:solidFill>
                <a:schemeClr val="lt1"/>
              </a:solidFill>
            </a:endParaRPr>
          </a:p>
        </p:txBody>
      </p:sp>
      <p:sp>
        <p:nvSpPr>
          <p:cNvPr id="485" name="Google Shape;485;p34"/>
          <p:cNvSpPr txBox="1"/>
          <p:nvPr/>
        </p:nvSpPr>
        <p:spPr>
          <a:xfrm>
            <a:off x="4613175" y="2657275"/>
            <a:ext cx="4081200" cy="200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GB" sz="1300">
                <a:solidFill>
                  <a:srgbClr val="F4F5F7"/>
                </a:solidFill>
                <a:latin typeface="Open Sans"/>
                <a:ea typeface="Open Sans"/>
                <a:cs typeface="Open Sans"/>
                <a:sym typeface="Open Sans"/>
              </a:rPr>
              <a:t>Same data, no model</a:t>
            </a:r>
            <a:endParaRPr sz="1300">
              <a:latin typeface="Open Sans"/>
              <a:ea typeface="Open Sans"/>
              <a:cs typeface="Open Sans"/>
              <a:sym typeface="Open Sans"/>
            </a:endParaRPr>
          </a:p>
        </p:txBody>
      </p:sp>
      <p:sp>
        <p:nvSpPr>
          <p:cNvPr id="486" name="Google Shape;486;p34"/>
          <p:cNvSpPr/>
          <p:nvPr/>
        </p:nvSpPr>
        <p:spPr>
          <a:xfrm>
            <a:off x="411475" y="3423224"/>
            <a:ext cx="8298300" cy="11913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487" name="Google Shape;487;p34"/>
          <p:cNvSpPr txBox="1"/>
          <p:nvPr/>
        </p:nvSpPr>
        <p:spPr>
          <a:xfrm>
            <a:off x="1385849" y="3577325"/>
            <a:ext cx="6372300" cy="231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GB" sz="1500">
                <a:solidFill>
                  <a:schemeClr val="dk1"/>
                </a:solidFill>
                <a:latin typeface="Open Sans"/>
                <a:ea typeface="Open Sans"/>
                <a:cs typeface="Open Sans"/>
                <a:sym typeface="Open Sans"/>
              </a:rPr>
              <a:t>Lift from logistic regression: +0.003   (= 0.3 percentage points)</a:t>
            </a:r>
            <a:endParaRPr sz="1500">
              <a:solidFill>
                <a:schemeClr val="dk1"/>
              </a:solidFill>
              <a:latin typeface="Open Sans"/>
              <a:ea typeface="Open Sans"/>
              <a:cs typeface="Open Sans"/>
              <a:sym typeface="Open Sans"/>
            </a:endParaRPr>
          </a:p>
        </p:txBody>
      </p:sp>
      <p:sp>
        <p:nvSpPr>
          <p:cNvPr id="488" name="Google Shape;488;p34"/>
          <p:cNvSpPr txBox="1"/>
          <p:nvPr/>
        </p:nvSpPr>
        <p:spPr>
          <a:xfrm>
            <a:off x="1385850" y="3963175"/>
            <a:ext cx="6372300" cy="461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lang="en-GB" sz="1500">
                <a:solidFill>
                  <a:schemeClr val="dk1"/>
                </a:solidFill>
                <a:latin typeface="Open Sans"/>
                <a:ea typeface="Open Sans"/>
                <a:cs typeface="Open Sans"/>
                <a:sym typeface="Open Sans"/>
              </a:rPr>
              <a:t>Either the model is doing nothing — OR accuracy is hiding the truth.</a:t>
            </a:r>
            <a:endParaRPr sz="1500">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None/>
            </a:pPr>
            <a:r>
              <a:rPr lang="en-GB" sz="1500">
                <a:solidFill>
                  <a:schemeClr val="dk1"/>
                </a:solidFill>
                <a:latin typeface="Open Sans"/>
                <a:ea typeface="Open Sans"/>
                <a:cs typeface="Open Sans"/>
                <a:sym typeface="Open Sans"/>
              </a:rPr>
              <a:t>We need to look INSIDE the predictions. Confusion matrix.</a:t>
            </a:r>
            <a:endParaRPr sz="1500">
              <a:solidFill>
                <a:schemeClr val="dk1"/>
              </a:solidFill>
              <a:latin typeface="Open Sans"/>
              <a:ea typeface="Open Sans"/>
              <a:cs typeface="Open Sans"/>
              <a:sym typeface="Open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35"/>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Open Sans"/>
              <a:ea typeface="Open Sans"/>
              <a:cs typeface="Open Sans"/>
              <a:sym typeface="Open Sans"/>
            </a:endParaRPr>
          </a:p>
        </p:txBody>
      </p:sp>
      <p:sp>
        <p:nvSpPr>
          <p:cNvPr id="495" name="Google Shape;495;p35"/>
          <p:cNvSpPr/>
          <p:nvPr/>
        </p:nvSpPr>
        <p:spPr>
          <a:xfrm>
            <a:off x="0" y="0"/>
            <a:ext cx="9143700" cy="1098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496" name="Google Shape;496;p35"/>
          <p:cNvSpPr txBox="1"/>
          <p:nvPr/>
        </p:nvSpPr>
        <p:spPr>
          <a:xfrm>
            <a:off x="411480" y="240030"/>
            <a:ext cx="82296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2300">
                <a:solidFill>
                  <a:srgbClr val="1B2A4A"/>
                </a:solidFill>
                <a:latin typeface="Open Sans"/>
                <a:ea typeface="Open Sans"/>
                <a:cs typeface="Open Sans"/>
                <a:sym typeface="Open Sans"/>
              </a:rPr>
              <a:t>The Confusion Matrix</a:t>
            </a:r>
            <a:endParaRPr sz="1100"/>
          </a:p>
        </p:txBody>
      </p:sp>
      <p:sp>
        <p:nvSpPr>
          <p:cNvPr id="497" name="Google Shape;497;p35"/>
          <p:cNvSpPr txBox="1"/>
          <p:nvPr/>
        </p:nvSpPr>
        <p:spPr>
          <a:xfrm>
            <a:off x="411480" y="685800"/>
            <a:ext cx="822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Four bins · the starting point for every classification metric</a:t>
            </a:r>
            <a:endParaRPr sz="1100"/>
          </a:p>
        </p:txBody>
      </p:sp>
      <p:sp>
        <p:nvSpPr>
          <p:cNvPr id="498" name="Google Shape;498;p35"/>
          <p:cNvSpPr txBox="1"/>
          <p:nvPr/>
        </p:nvSpPr>
        <p:spPr>
          <a:xfrm>
            <a:off x="3295968" y="1165860"/>
            <a:ext cx="2400300" cy="200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1300">
                <a:solidFill>
                  <a:srgbClr val="1B2A4A"/>
                </a:solidFill>
                <a:latin typeface="Open Sans"/>
                <a:ea typeface="Open Sans"/>
                <a:cs typeface="Open Sans"/>
                <a:sym typeface="Open Sans"/>
              </a:rPr>
              <a:t xml:space="preserve">Predicted </a:t>
            </a:r>
            <a:r>
              <a:rPr b="1" lang="en-GB" sz="1300">
                <a:solidFill>
                  <a:srgbClr val="6AA84F"/>
                </a:solidFill>
                <a:latin typeface="Open Sans"/>
                <a:ea typeface="Open Sans"/>
                <a:cs typeface="Open Sans"/>
                <a:sym typeface="Open Sans"/>
              </a:rPr>
              <a:t>STAYED</a:t>
            </a:r>
            <a:endParaRPr sz="1100">
              <a:solidFill>
                <a:srgbClr val="6AA84F"/>
              </a:solidFill>
            </a:endParaRPr>
          </a:p>
        </p:txBody>
      </p:sp>
      <p:sp>
        <p:nvSpPr>
          <p:cNvPr id="499" name="Google Shape;499;p35"/>
          <p:cNvSpPr txBox="1"/>
          <p:nvPr/>
        </p:nvSpPr>
        <p:spPr>
          <a:xfrm>
            <a:off x="5696268" y="1165860"/>
            <a:ext cx="2400300" cy="200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1300">
                <a:solidFill>
                  <a:srgbClr val="1B2A4A"/>
                </a:solidFill>
                <a:latin typeface="Open Sans"/>
                <a:ea typeface="Open Sans"/>
                <a:cs typeface="Open Sans"/>
                <a:sym typeface="Open Sans"/>
              </a:rPr>
              <a:t xml:space="preserve">Predicted </a:t>
            </a:r>
            <a:r>
              <a:rPr b="1" lang="en-GB" sz="1300">
                <a:solidFill>
                  <a:srgbClr val="FF0000"/>
                </a:solidFill>
                <a:latin typeface="Open Sans"/>
                <a:ea typeface="Open Sans"/>
                <a:cs typeface="Open Sans"/>
                <a:sym typeface="Open Sans"/>
              </a:rPr>
              <a:t>CHURN</a:t>
            </a:r>
            <a:endParaRPr sz="1100">
              <a:solidFill>
                <a:srgbClr val="FF0000"/>
              </a:solidFill>
            </a:endParaRPr>
          </a:p>
        </p:txBody>
      </p:sp>
      <p:sp>
        <p:nvSpPr>
          <p:cNvPr id="500" name="Google Shape;500;p35"/>
          <p:cNvSpPr txBox="1"/>
          <p:nvPr/>
        </p:nvSpPr>
        <p:spPr>
          <a:xfrm>
            <a:off x="791561" y="1988820"/>
            <a:ext cx="2400300" cy="2001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GB" sz="1300">
                <a:solidFill>
                  <a:srgbClr val="1B2A4A"/>
                </a:solidFill>
                <a:latin typeface="Open Sans"/>
                <a:ea typeface="Open Sans"/>
                <a:cs typeface="Open Sans"/>
                <a:sym typeface="Open Sans"/>
              </a:rPr>
              <a:t xml:space="preserve">Actually </a:t>
            </a:r>
            <a:r>
              <a:rPr b="1" lang="en-GB" sz="1300">
                <a:solidFill>
                  <a:srgbClr val="6AA84F"/>
                </a:solidFill>
                <a:latin typeface="Open Sans"/>
                <a:ea typeface="Open Sans"/>
                <a:cs typeface="Open Sans"/>
                <a:sym typeface="Open Sans"/>
              </a:rPr>
              <a:t>STAYED</a:t>
            </a:r>
            <a:endParaRPr sz="1100">
              <a:solidFill>
                <a:srgbClr val="6AA84F"/>
              </a:solidFill>
            </a:endParaRPr>
          </a:p>
        </p:txBody>
      </p:sp>
      <p:sp>
        <p:nvSpPr>
          <p:cNvPr id="501" name="Google Shape;501;p35"/>
          <p:cNvSpPr txBox="1"/>
          <p:nvPr/>
        </p:nvSpPr>
        <p:spPr>
          <a:xfrm>
            <a:off x="791561" y="3223260"/>
            <a:ext cx="2400300" cy="2001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GB" sz="1300">
                <a:solidFill>
                  <a:srgbClr val="1B2A4A"/>
                </a:solidFill>
                <a:latin typeface="Open Sans"/>
                <a:ea typeface="Open Sans"/>
                <a:cs typeface="Open Sans"/>
                <a:sym typeface="Open Sans"/>
              </a:rPr>
              <a:t xml:space="preserve">Actually </a:t>
            </a:r>
            <a:r>
              <a:rPr b="1" lang="en-GB" sz="1300">
                <a:solidFill>
                  <a:srgbClr val="FF0000"/>
                </a:solidFill>
                <a:latin typeface="Open Sans"/>
                <a:ea typeface="Open Sans"/>
                <a:cs typeface="Open Sans"/>
                <a:sym typeface="Open Sans"/>
              </a:rPr>
              <a:t>CHURN</a:t>
            </a:r>
            <a:endParaRPr sz="1100">
              <a:solidFill>
                <a:srgbClr val="FF0000"/>
              </a:solidFill>
            </a:endParaRPr>
          </a:p>
        </p:txBody>
      </p:sp>
      <p:sp>
        <p:nvSpPr>
          <p:cNvPr id="502" name="Google Shape;502;p35"/>
          <p:cNvSpPr/>
          <p:nvPr/>
        </p:nvSpPr>
        <p:spPr>
          <a:xfrm>
            <a:off x="3295975" y="1508752"/>
            <a:ext cx="2400300" cy="1234500"/>
          </a:xfrm>
          <a:prstGeom prst="rect">
            <a:avLst/>
          </a:prstGeom>
          <a:solidFill>
            <a:srgbClr val="F4F5F7"/>
          </a:solidFill>
          <a:ln cap="flat" cmpd="sng" w="9525">
            <a:solidFill>
              <a:schemeClr val="dk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503" name="Google Shape;503;p35"/>
          <p:cNvSpPr txBox="1"/>
          <p:nvPr/>
        </p:nvSpPr>
        <p:spPr>
          <a:xfrm>
            <a:off x="3295968" y="1611630"/>
            <a:ext cx="2400300" cy="169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1100">
                <a:solidFill>
                  <a:schemeClr val="accent1"/>
                </a:solidFill>
                <a:latin typeface="Open Sans"/>
                <a:ea typeface="Open Sans"/>
                <a:cs typeface="Open Sans"/>
                <a:sym typeface="Open Sans"/>
              </a:rPr>
              <a:t>TN</a:t>
            </a:r>
            <a:endParaRPr sz="1100">
              <a:solidFill>
                <a:schemeClr val="accent1"/>
              </a:solidFill>
              <a:latin typeface="Open Sans"/>
              <a:ea typeface="Open Sans"/>
              <a:cs typeface="Open Sans"/>
              <a:sym typeface="Open Sans"/>
            </a:endParaRPr>
          </a:p>
        </p:txBody>
      </p:sp>
      <p:sp>
        <p:nvSpPr>
          <p:cNvPr id="504" name="Google Shape;504;p35"/>
          <p:cNvSpPr txBox="1"/>
          <p:nvPr/>
        </p:nvSpPr>
        <p:spPr>
          <a:xfrm>
            <a:off x="3295968" y="1885950"/>
            <a:ext cx="2400300" cy="369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2400">
                <a:solidFill>
                  <a:schemeClr val="dk2"/>
                </a:solidFill>
                <a:latin typeface="Open Sans"/>
                <a:ea typeface="Open Sans"/>
                <a:cs typeface="Open Sans"/>
                <a:sym typeface="Open Sans"/>
              </a:rPr>
              <a:t>1749</a:t>
            </a:r>
            <a:endParaRPr sz="1100">
              <a:solidFill>
                <a:schemeClr val="dk2"/>
              </a:solidFill>
              <a:latin typeface="Open Sans"/>
              <a:ea typeface="Open Sans"/>
              <a:cs typeface="Open Sans"/>
              <a:sym typeface="Open Sans"/>
            </a:endParaRPr>
          </a:p>
        </p:txBody>
      </p:sp>
      <p:sp>
        <p:nvSpPr>
          <p:cNvPr id="505" name="Google Shape;505;p35"/>
          <p:cNvSpPr txBox="1"/>
          <p:nvPr/>
        </p:nvSpPr>
        <p:spPr>
          <a:xfrm>
            <a:off x="3295968" y="2400300"/>
            <a:ext cx="24003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GB" sz="1000">
                <a:solidFill>
                  <a:srgbClr val="333D4D"/>
                </a:solidFill>
                <a:latin typeface="Open Sans"/>
                <a:ea typeface="Open Sans"/>
                <a:cs typeface="Open Sans"/>
                <a:sym typeface="Open Sans"/>
              </a:rPr>
              <a:t>Correctly let stayer alone</a:t>
            </a:r>
            <a:endParaRPr sz="1100"/>
          </a:p>
        </p:txBody>
      </p:sp>
      <p:sp>
        <p:nvSpPr>
          <p:cNvPr id="506" name="Google Shape;506;p35"/>
          <p:cNvSpPr/>
          <p:nvPr/>
        </p:nvSpPr>
        <p:spPr>
          <a:xfrm>
            <a:off x="5696275" y="1508752"/>
            <a:ext cx="2400300" cy="1234500"/>
          </a:xfrm>
          <a:prstGeom prst="rect">
            <a:avLst/>
          </a:prstGeom>
          <a:solidFill>
            <a:srgbClr val="F4F5F7"/>
          </a:solidFill>
          <a:ln cap="flat" cmpd="sng" w="9525">
            <a:solidFill>
              <a:schemeClr val="dk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507" name="Google Shape;507;p35"/>
          <p:cNvSpPr txBox="1"/>
          <p:nvPr/>
        </p:nvSpPr>
        <p:spPr>
          <a:xfrm>
            <a:off x="5696268" y="1611630"/>
            <a:ext cx="2400300" cy="169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1100">
                <a:solidFill>
                  <a:schemeClr val="dk2"/>
                </a:solidFill>
                <a:latin typeface="Open Sans"/>
                <a:ea typeface="Open Sans"/>
                <a:cs typeface="Open Sans"/>
                <a:sym typeface="Open Sans"/>
              </a:rPr>
              <a:t>FP</a:t>
            </a:r>
            <a:endParaRPr sz="1100">
              <a:solidFill>
                <a:schemeClr val="dk2"/>
              </a:solidFill>
              <a:latin typeface="Open Sans"/>
              <a:ea typeface="Open Sans"/>
              <a:cs typeface="Open Sans"/>
              <a:sym typeface="Open Sans"/>
            </a:endParaRPr>
          </a:p>
        </p:txBody>
      </p:sp>
      <p:sp>
        <p:nvSpPr>
          <p:cNvPr id="508" name="Google Shape;508;p35"/>
          <p:cNvSpPr txBox="1"/>
          <p:nvPr/>
        </p:nvSpPr>
        <p:spPr>
          <a:xfrm>
            <a:off x="5696268" y="1885950"/>
            <a:ext cx="2400300" cy="369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2400">
                <a:solidFill>
                  <a:schemeClr val="dk2"/>
                </a:solidFill>
                <a:latin typeface="Open Sans"/>
                <a:ea typeface="Open Sans"/>
                <a:cs typeface="Open Sans"/>
                <a:sym typeface="Open Sans"/>
              </a:rPr>
              <a:t>12</a:t>
            </a:r>
            <a:endParaRPr sz="1100">
              <a:solidFill>
                <a:schemeClr val="dk2"/>
              </a:solidFill>
              <a:latin typeface="Open Sans"/>
              <a:ea typeface="Open Sans"/>
              <a:cs typeface="Open Sans"/>
              <a:sym typeface="Open Sans"/>
            </a:endParaRPr>
          </a:p>
        </p:txBody>
      </p:sp>
      <p:sp>
        <p:nvSpPr>
          <p:cNvPr id="509" name="Google Shape;509;p35"/>
          <p:cNvSpPr txBox="1"/>
          <p:nvPr/>
        </p:nvSpPr>
        <p:spPr>
          <a:xfrm>
            <a:off x="5696268" y="2400300"/>
            <a:ext cx="24003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GB" sz="1000">
                <a:solidFill>
                  <a:srgbClr val="333D4D"/>
                </a:solidFill>
                <a:latin typeface="Open Sans"/>
                <a:ea typeface="Open Sans"/>
                <a:cs typeface="Open Sans"/>
                <a:sym typeface="Open Sans"/>
              </a:rPr>
              <a:t>Wasted intervention</a:t>
            </a:r>
            <a:endParaRPr sz="1100"/>
          </a:p>
        </p:txBody>
      </p:sp>
      <p:sp>
        <p:nvSpPr>
          <p:cNvPr id="510" name="Google Shape;510;p35"/>
          <p:cNvSpPr/>
          <p:nvPr/>
        </p:nvSpPr>
        <p:spPr>
          <a:xfrm>
            <a:off x="3295975" y="2743200"/>
            <a:ext cx="2400300" cy="1234500"/>
          </a:xfrm>
          <a:prstGeom prst="rect">
            <a:avLst/>
          </a:prstGeom>
          <a:solidFill>
            <a:srgbClr val="F4F5F7"/>
          </a:solidFill>
          <a:ln cap="flat" cmpd="sng" w="9525">
            <a:solidFill>
              <a:schemeClr val="dk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511" name="Google Shape;511;p35"/>
          <p:cNvSpPr txBox="1"/>
          <p:nvPr/>
        </p:nvSpPr>
        <p:spPr>
          <a:xfrm>
            <a:off x="3295968" y="2846070"/>
            <a:ext cx="2400300" cy="169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1100">
                <a:solidFill>
                  <a:schemeClr val="dk2"/>
                </a:solidFill>
                <a:latin typeface="Open Sans"/>
                <a:ea typeface="Open Sans"/>
                <a:cs typeface="Open Sans"/>
                <a:sym typeface="Open Sans"/>
              </a:rPr>
              <a:t>FN</a:t>
            </a:r>
            <a:endParaRPr sz="1100">
              <a:solidFill>
                <a:schemeClr val="dk2"/>
              </a:solidFill>
              <a:latin typeface="Open Sans"/>
              <a:ea typeface="Open Sans"/>
              <a:cs typeface="Open Sans"/>
              <a:sym typeface="Open Sans"/>
            </a:endParaRPr>
          </a:p>
        </p:txBody>
      </p:sp>
      <p:sp>
        <p:nvSpPr>
          <p:cNvPr id="512" name="Google Shape;512;p35"/>
          <p:cNvSpPr txBox="1"/>
          <p:nvPr/>
        </p:nvSpPr>
        <p:spPr>
          <a:xfrm>
            <a:off x="3295968" y="3120390"/>
            <a:ext cx="2400300" cy="369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2400">
                <a:solidFill>
                  <a:schemeClr val="dk2"/>
                </a:solidFill>
                <a:latin typeface="Open Sans"/>
                <a:ea typeface="Open Sans"/>
                <a:cs typeface="Open Sans"/>
                <a:sym typeface="Open Sans"/>
              </a:rPr>
              <a:t>232</a:t>
            </a:r>
            <a:endParaRPr sz="1100">
              <a:solidFill>
                <a:schemeClr val="dk2"/>
              </a:solidFill>
              <a:latin typeface="Open Sans"/>
              <a:ea typeface="Open Sans"/>
              <a:cs typeface="Open Sans"/>
              <a:sym typeface="Open Sans"/>
            </a:endParaRPr>
          </a:p>
        </p:txBody>
      </p:sp>
      <p:sp>
        <p:nvSpPr>
          <p:cNvPr id="513" name="Google Shape;513;p35"/>
          <p:cNvSpPr txBox="1"/>
          <p:nvPr/>
        </p:nvSpPr>
        <p:spPr>
          <a:xfrm>
            <a:off x="3295968" y="3634740"/>
            <a:ext cx="24003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GB" sz="1000">
                <a:solidFill>
                  <a:srgbClr val="333D4D"/>
                </a:solidFill>
                <a:latin typeface="Open Sans"/>
                <a:ea typeface="Open Sans"/>
                <a:cs typeface="Open Sans"/>
                <a:sym typeface="Open Sans"/>
              </a:rPr>
              <a:t>MISSED a real churner</a:t>
            </a:r>
            <a:endParaRPr sz="1100"/>
          </a:p>
        </p:txBody>
      </p:sp>
      <p:sp>
        <p:nvSpPr>
          <p:cNvPr id="514" name="Google Shape;514;p35"/>
          <p:cNvSpPr/>
          <p:nvPr/>
        </p:nvSpPr>
        <p:spPr>
          <a:xfrm>
            <a:off x="5696275" y="2743200"/>
            <a:ext cx="2400300" cy="1234500"/>
          </a:xfrm>
          <a:prstGeom prst="rect">
            <a:avLst/>
          </a:prstGeom>
          <a:solidFill>
            <a:srgbClr val="F4F5F7"/>
          </a:solidFill>
          <a:ln cap="flat" cmpd="sng" w="9525">
            <a:solidFill>
              <a:schemeClr val="dk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515" name="Google Shape;515;p35"/>
          <p:cNvSpPr txBox="1"/>
          <p:nvPr/>
        </p:nvSpPr>
        <p:spPr>
          <a:xfrm>
            <a:off x="5696268" y="2846070"/>
            <a:ext cx="2400300" cy="169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1100">
                <a:solidFill>
                  <a:srgbClr val="6AA84F"/>
                </a:solidFill>
                <a:latin typeface="Open Sans"/>
                <a:ea typeface="Open Sans"/>
                <a:cs typeface="Open Sans"/>
                <a:sym typeface="Open Sans"/>
              </a:rPr>
              <a:t>TP</a:t>
            </a:r>
            <a:endParaRPr sz="1100">
              <a:solidFill>
                <a:srgbClr val="6AA84F"/>
              </a:solidFill>
              <a:latin typeface="Open Sans"/>
              <a:ea typeface="Open Sans"/>
              <a:cs typeface="Open Sans"/>
              <a:sym typeface="Open Sans"/>
            </a:endParaRPr>
          </a:p>
        </p:txBody>
      </p:sp>
      <p:sp>
        <p:nvSpPr>
          <p:cNvPr id="516" name="Google Shape;516;p35"/>
          <p:cNvSpPr txBox="1"/>
          <p:nvPr/>
        </p:nvSpPr>
        <p:spPr>
          <a:xfrm>
            <a:off x="5696268" y="3120390"/>
            <a:ext cx="2400300" cy="369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2400">
                <a:solidFill>
                  <a:schemeClr val="dk2"/>
                </a:solidFill>
                <a:latin typeface="Open Sans"/>
                <a:ea typeface="Open Sans"/>
                <a:cs typeface="Open Sans"/>
                <a:sym typeface="Open Sans"/>
              </a:rPr>
              <a:t>7</a:t>
            </a:r>
            <a:endParaRPr sz="1100">
              <a:solidFill>
                <a:schemeClr val="dk2"/>
              </a:solidFill>
              <a:latin typeface="Open Sans"/>
              <a:ea typeface="Open Sans"/>
              <a:cs typeface="Open Sans"/>
              <a:sym typeface="Open Sans"/>
            </a:endParaRPr>
          </a:p>
        </p:txBody>
      </p:sp>
      <p:sp>
        <p:nvSpPr>
          <p:cNvPr id="517" name="Google Shape;517;p35"/>
          <p:cNvSpPr txBox="1"/>
          <p:nvPr/>
        </p:nvSpPr>
        <p:spPr>
          <a:xfrm>
            <a:off x="5696268" y="3634740"/>
            <a:ext cx="24003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GB" sz="1000">
                <a:solidFill>
                  <a:srgbClr val="333D4D"/>
                </a:solidFill>
                <a:latin typeface="Open Sans"/>
                <a:ea typeface="Open Sans"/>
                <a:cs typeface="Open Sans"/>
                <a:sym typeface="Open Sans"/>
              </a:rPr>
              <a:t>Caught a real churner</a:t>
            </a:r>
            <a:endParaRPr sz="1100"/>
          </a:p>
        </p:txBody>
      </p:sp>
      <p:sp>
        <p:nvSpPr>
          <p:cNvPr id="518" name="Google Shape;518;p35"/>
          <p:cNvSpPr/>
          <p:nvPr/>
        </p:nvSpPr>
        <p:spPr>
          <a:xfrm>
            <a:off x="411480" y="4251960"/>
            <a:ext cx="8298300" cy="566700"/>
          </a:xfrm>
          <a:prstGeom prst="rect">
            <a:avLst/>
          </a:prstGeom>
          <a:solidFill>
            <a:schemeClr val="lt2"/>
          </a:solidFill>
          <a:ln>
            <a:noFill/>
          </a:ln>
        </p:spPr>
        <p:txBody>
          <a:bodyPr anchorCtr="0" anchor="ctr" bIns="108000" lIns="108000" spcFirstLastPara="1" rIns="108000" wrap="square" tIns="108000">
            <a:noAutofit/>
          </a:bodyPr>
          <a:lstStyle/>
          <a:p>
            <a:pPr indent="0" lvl="0" marL="0" rtl="0" algn="ctr">
              <a:spcBef>
                <a:spcPts val="0"/>
              </a:spcBef>
              <a:spcAft>
                <a:spcPts val="0"/>
              </a:spcAft>
              <a:buNone/>
            </a:pPr>
            <a:r>
              <a:rPr lang="en-GB" sz="1300">
                <a:solidFill>
                  <a:schemeClr val="dk1"/>
                </a:solidFill>
                <a:latin typeface="Open Sans"/>
                <a:ea typeface="Open Sans"/>
                <a:cs typeface="Open Sans"/>
                <a:sym typeface="Open Sans"/>
              </a:rPr>
              <a:t>At threshold 0.5 the model only flagged 19 customers — and missed 232 real churners.</a:t>
            </a:r>
            <a:endParaRPr>
              <a:solidFill>
                <a:schemeClr val="dk1"/>
              </a:solidFill>
              <a:latin typeface="Open Sans"/>
              <a:ea typeface="Open Sans"/>
              <a:cs typeface="Open Sans"/>
              <a:sym typeface="Open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36"/>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Open Sans"/>
              <a:ea typeface="Open Sans"/>
              <a:cs typeface="Open Sans"/>
              <a:sym typeface="Open Sans"/>
            </a:endParaRPr>
          </a:p>
        </p:txBody>
      </p:sp>
      <p:sp>
        <p:nvSpPr>
          <p:cNvPr id="525" name="Google Shape;525;p36"/>
          <p:cNvSpPr/>
          <p:nvPr/>
        </p:nvSpPr>
        <p:spPr>
          <a:xfrm>
            <a:off x="0" y="0"/>
            <a:ext cx="9143700" cy="1098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526" name="Google Shape;526;p36"/>
          <p:cNvSpPr txBox="1"/>
          <p:nvPr/>
        </p:nvSpPr>
        <p:spPr>
          <a:xfrm>
            <a:off x="411480" y="240030"/>
            <a:ext cx="82296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2300">
                <a:solidFill>
                  <a:srgbClr val="1B2A4A"/>
                </a:solidFill>
                <a:latin typeface="Open Sans"/>
                <a:ea typeface="Open Sans"/>
                <a:cs typeface="Open Sans"/>
                <a:sym typeface="Open Sans"/>
              </a:rPr>
              <a:t>Precision vs Recall</a:t>
            </a:r>
            <a:endParaRPr sz="1100"/>
          </a:p>
        </p:txBody>
      </p:sp>
      <p:sp>
        <p:nvSpPr>
          <p:cNvPr id="527" name="Google Shape;527;p36"/>
          <p:cNvSpPr txBox="1"/>
          <p:nvPr/>
        </p:nvSpPr>
        <p:spPr>
          <a:xfrm>
            <a:off x="411480" y="685800"/>
            <a:ext cx="822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Two questions, one tradeoff</a:t>
            </a:r>
            <a:endParaRPr sz="1100"/>
          </a:p>
        </p:txBody>
      </p:sp>
      <p:sp>
        <p:nvSpPr>
          <p:cNvPr id="528" name="Google Shape;528;p36"/>
          <p:cNvSpPr/>
          <p:nvPr/>
        </p:nvSpPr>
        <p:spPr>
          <a:xfrm>
            <a:off x="411475" y="1096450"/>
            <a:ext cx="4114800" cy="16155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529" name="Google Shape;529;p36"/>
          <p:cNvSpPr txBox="1"/>
          <p:nvPr/>
        </p:nvSpPr>
        <p:spPr>
          <a:xfrm>
            <a:off x="582930" y="1199321"/>
            <a:ext cx="37719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600">
                <a:solidFill>
                  <a:srgbClr val="FFFFFF"/>
                </a:solidFill>
                <a:latin typeface="Open Sans"/>
                <a:ea typeface="Open Sans"/>
                <a:cs typeface="Open Sans"/>
                <a:sym typeface="Open Sans"/>
              </a:rPr>
              <a:t>Precision</a:t>
            </a:r>
            <a:endParaRPr sz="1100"/>
          </a:p>
        </p:txBody>
      </p:sp>
      <p:sp>
        <p:nvSpPr>
          <p:cNvPr id="530" name="Google Shape;530;p36"/>
          <p:cNvSpPr txBox="1"/>
          <p:nvPr/>
        </p:nvSpPr>
        <p:spPr>
          <a:xfrm>
            <a:off x="582930" y="1576512"/>
            <a:ext cx="37719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800">
                <a:solidFill>
                  <a:srgbClr val="DDE1E6"/>
                </a:solidFill>
                <a:latin typeface="Consolas"/>
                <a:ea typeface="Consolas"/>
                <a:cs typeface="Consolas"/>
                <a:sym typeface="Consolas"/>
              </a:rPr>
              <a:t>TP / (TP + FP)</a:t>
            </a:r>
            <a:endParaRPr sz="1100"/>
          </a:p>
        </p:txBody>
      </p:sp>
      <p:sp>
        <p:nvSpPr>
          <p:cNvPr id="531" name="Google Shape;531;p36"/>
          <p:cNvSpPr txBox="1"/>
          <p:nvPr/>
        </p:nvSpPr>
        <p:spPr>
          <a:xfrm>
            <a:off x="582930" y="2056572"/>
            <a:ext cx="3771900" cy="400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F4F5F7"/>
                </a:solidFill>
                <a:latin typeface="Open Sans"/>
                <a:ea typeface="Open Sans"/>
                <a:cs typeface="Open Sans"/>
                <a:sym typeface="Open Sans"/>
              </a:rPr>
              <a:t>"Of everyone we flagged,</a:t>
            </a:r>
            <a:endParaRPr sz="1100"/>
          </a:p>
          <a:p>
            <a:pPr indent="0" lvl="0" marL="0" marR="0" rtl="0" algn="l">
              <a:spcBef>
                <a:spcPts val="0"/>
              </a:spcBef>
              <a:spcAft>
                <a:spcPts val="0"/>
              </a:spcAft>
              <a:buNone/>
            </a:pPr>
            <a:r>
              <a:rPr b="0" lang="en-GB" sz="1300">
                <a:solidFill>
                  <a:srgbClr val="F4F5F7"/>
                </a:solidFill>
                <a:latin typeface="Open Sans"/>
                <a:ea typeface="Open Sans"/>
                <a:cs typeface="Open Sans"/>
                <a:sym typeface="Open Sans"/>
              </a:rPr>
              <a:t>what fraction were correct?"</a:t>
            </a:r>
            <a:endParaRPr sz="1100"/>
          </a:p>
        </p:txBody>
      </p:sp>
      <p:sp>
        <p:nvSpPr>
          <p:cNvPr id="532" name="Google Shape;532;p36"/>
          <p:cNvSpPr/>
          <p:nvPr/>
        </p:nvSpPr>
        <p:spPr>
          <a:xfrm>
            <a:off x="4629148" y="1096450"/>
            <a:ext cx="4114800" cy="1615500"/>
          </a:xfrm>
          <a:prstGeom prst="rect">
            <a:avLst/>
          </a:prstGeom>
          <a:solidFill>
            <a:srgbClr val="1B2A4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533" name="Google Shape;533;p36"/>
          <p:cNvSpPr txBox="1"/>
          <p:nvPr/>
        </p:nvSpPr>
        <p:spPr>
          <a:xfrm>
            <a:off x="4800600" y="1199321"/>
            <a:ext cx="37719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600">
                <a:solidFill>
                  <a:srgbClr val="FFFFFF"/>
                </a:solidFill>
                <a:latin typeface="Open Sans"/>
                <a:ea typeface="Open Sans"/>
                <a:cs typeface="Open Sans"/>
                <a:sym typeface="Open Sans"/>
              </a:rPr>
              <a:t>Recall</a:t>
            </a:r>
            <a:endParaRPr sz="1100"/>
          </a:p>
        </p:txBody>
      </p:sp>
      <p:sp>
        <p:nvSpPr>
          <p:cNvPr id="534" name="Google Shape;534;p36"/>
          <p:cNvSpPr txBox="1"/>
          <p:nvPr/>
        </p:nvSpPr>
        <p:spPr>
          <a:xfrm>
            <a:off x="4800600" y="1576512"/>
            <a:ext cx="37719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800">
                <a:solidFill>
                  <a:srgbClr val="DDE1E6"/>
                </a:solidFill>
                <a:latin typeface="Consolas"/>
                <a:ea typeface="Consolas"/>
                <a:cs typeface="Consolas"/>
                <a:sym typeface="Consolas"/>
              </a:rPr>
              <a:t>TP / (TP + FN)</a:t>
            </a:r>
            <a:endParaRPr sz="1100"/>
          </a:p>
        </p:txBody>
      </p:sp>
      <p:sp>
        <p:nvSpPr>
          <p:cNvPr id="535" name="Google Shape;535;p36"/>
          <p:cNvSpPr txBox="1"/>
          <p:nvPr/>
        </p:nvSpPr>
        <p:spPr>
          <a:xfrm>
            <a:off x="4800600" y="2056572"/>
            <a:ext cx="3771900" cy="400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F4F5F7"/>
                </a:solidFill>
                <a:latin typeface="Open Sans"/>
                <a:ea typeface="Open Sans"/>
                <a:cs typeface="Open Sans"/>
                <a:sym typeface="Open Sans"/>
              </a:rPr>
              <a:t>"Of all actual positives,</a:t>
            </a:r>
            <a:endParaRPr sz="1100"/>
          </a:p>
          <a:p>
            <a:pPr indent="0" lvl="0" marL="0" marR="0" rtl="0" algn="l">
              <a:spcBef>
                <a:spcPts val="0"/>
              </a:spcBef>
              <a:spcAft>
                <a:spcPts val="0"/>
              </a:spcAft>
              <a:buNone/>
            </a:pPr>
            <a:r>
              <a:rPr b="0" lang="en-GB" sz="1300">
                <a:solidFill>
                  <a:srgbClr val="F4F5F7"/>
                </a:solidFill>
                <a:latin typeface="Open Sans"/>
                <a:ea typeface="Open Sans"/>
                <a:cs typeface="Open Sans"/>
                <a:sym typeface="Open Sans"/>
              </a:rPr>
              <a:t>what fraction did we catch?"</a:t>
            </a:r>
            <a:endParaRPr sz="1100"/>
          </a:p>
        </p:txBody>
      </p:sp>
      <p:sp>
        <p:nvSpPr>
          <p:cNvPr id="536" name="Google Shape;536;p36"/>
          <p:cNvSpPr txBox="1"/>
          <p:nvPr/>
        </p:nvSpPr>
        <p:spPr>
          <a:xfrm>
            <a:off x="411480" y="3154680"/>
            <a:ext cx="82983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400">
                <a:solidFill>
                  <a:srgbClr val="2C5697"/>
                </a:solidFill>
                <a:latin typeface="Open Sans"/>
                <a:ea typeface="Open Sans"/>
                <a:cs typeface="Open Sans"/>
                <a:sym typeface="Open Sans"/>
              </a:rPr>
              <a:t>When to prioritise what</a:t>
            </a:r>
            <a:endParaRPr sz="1100"/>
          </a:p>
        </p:txBody>
      </p:sp>
      <p:sp>
        <p:nvSpPr>
          <p:cNvPr id="537" name="Google Shape;537;p36"/>
          <p:cNvSpPr txBox="1"/>
          <p:nvPr/>
        </p:nvSpPr>
        <p:spPr>
          <a:xfrm>
            <a:off x="480060" y="3566160"/>
            <a:ext cx="37719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200">
                <a:solidFill>
                  <a:srgbClr val="1B2A4A"/>
                </a:solidFill>
                <a:latin typeface="Open Sans"/>
                <a:ea typeface="Open Sans"/>
                <a:cs typeface="Open Sans"/>
                <a:sym typeface="Open Sans"/>
              </a:rPr>
              <a:t>▸ High recall (catch most positives)</a:t>
            </a:r>
            <a:endParaRPr sz="1100"/>
          </a:p>
        </p:txBody>
      </p:sp>
      <p:sp>
        <p:nvSpPr>
          <p:cNvPr id="538" name="Google Shape;538;p36"/>
          <p:cNvSpPr txBox="1"/>
          <p:nvPr/>
        </p:nvSpPr>
        <p:spPr>
          <a:xfrm>
            <a:off x="4320540" y="3566160"/>
            <a:ext cx="44577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100">
                <a:solidFill>
                  <a:srgbClr val="333D4D"/>
                </a:solidFill>
                <a:latin typeface="Open Sans"/>
                <a:ea typeface="Open Sans"/>
                <a:cs typeface="Open Sans"/>
                <a:sym typeface="Open Sans"/>
              </a:rPr>
              <a:t>Cancer screening · fraud detection · security alerts</a:t>
            </a:r>
            <a:endParaRPr sz="1100"/>
          </a:p>
        </p:txBody>
      </p:sp>
      <p:sp>
        <p:nvSpPr>
          <p:cNvPr id="539" name="Google Shape;539;p36"/>
          <p:cNvSpPr txBox="1"/>
          <p:nvPr/>
        </p:nvSpPr>
        <p:spPr>
          <a:xfrm>
            <a:off x="480060" y="3943350"/>
            <a:ext cx="37719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200">
                <a:solidFill>
                  <a:srgbClr val="1B2A4A"/>
                </a:solidFill>
                <a:latin typeface="Open Sans"/>
                <a:ea typeface="Open Sans"/>
                <a:cs typeface="Open Sans"/>
                <a:sym typeface="Open Sans"/>
              </a:rPr>
              <a:t>▸ High precision (don't bother people falsely)</a:t>
            </a:r>
            <a:endParaRPr sz="1100"/>
          </a:p>
        </p:txBody>
      </p:sp>
      <p:sp>
        <p:nvSpPr>
          <p:cNvPr id="540" name="Google Shape;540;p36"/>
          <p:cNvSpPr txBox="1"/>
          <p:nvPr/>
        </p:nvSpPr>
        <p:spPr>
          <a:xfrm>
            <a:off x="4320540" y="3943350"/>
            <a:ext cx="44577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100">
                <a:solidFill>
                  <a:srgbClr val="333D4D"/>
                </a:solidFill>
                <a:latin typeface="Open Sans"/>
                <a:ea typeface="Open Sans"/>
                <a:cs typeface="Open Sans"/>
                <a:sym typeface="Open Sans"/>
              </a:rPr>
              <a:t>Spam filters · automated hiring · marketing emails</a:t>
            </a:r>
            <a:endParaRPr sz="1100"/>
          </a:p>
        </p:txBody>
      </p:sp>
      <p:sp>
        <p:nvSpPr>
          <p:cNvPr id="541" name="Google Shape;541;p36"/>
          <p:cNvSpPr txBox="1"/>
          <p:nvPr/>
        </p:nvSpPr>
        <p:spPr>
          <a:xfrm>
            <a:off x="480060" y="4320540"/>
            <a:ext cx="37719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200">
                <a:solidFill>
                  <a:srgbClr val="1B2A4A"/>
                </a:solidFill>
                <a:latin typeface="Open Sans"/>
                <a:ea typeface="Open Sans"/>
                <a:cs typeface="Open Sans"/>
                <a:sym typeface="Open Sans"/>
              </a:rPr>
              <a:t>▸ Balanced — use F1</a:t>
            </a:r>
            <a:endParaRPr sz="1100"/>
          </a:p>
        </p:txBody>
      </p:sp>
      <p:sp>
        <p:nvSpPr>
          <p:cNvPr id="542" name="Google Shape;542;p36"/>
          <p:cNvSpPr txBox="1"/>
          <p:nvPr/>
        </p:nvSpPr>
        <p:spPr>
          <a:xfrm>
            <a:off x="4320540" y="4320540"/>
            <a:ext cx="44577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100">
                <a:solidFill>
                  <a:srgbClr val="333D4D"/>
                </a:solidFill>
                <a:latin typeface="Open Sans"/>
                <a:ea typeface="Open Sans"/>
                <a:cs typeface="Open Sans"/>
                <a:sym typeface="Open Sans"/>
              </a:rPr>
              <a:t>When both kinds of error have meaningful cost</a:t>
            </a:r>
            <a:endParaRPr sz="11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38"/>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Open Sans"/>
              <a:ea typeface="Open Sans"/>
              <a:cs typeface="Open Sans"/>
              <a:sym typeface="Open Sans"/>
            </a:endParaRPr>
          </a:p>
        </p:txBody>
      </p:sp>
      <p:sp>
        <p:nvSpPr>
          <p:cNvPr id="597" name="Google Shape;597;p38"/>
          <p:cNvSpPr/>
          <p:nvPr/>
        </p:nvSpPr>
        <p:spPr>
          <a:xfrm>
            <a:off x="0" y="0"/>
            <a:ext cx="9143700" cy="1098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598" name="Google Shape;598;p38"/>
          <p:cNvSpPr txBox="1"/>
          <p:nvPr/>
        </p:nvSpPr>
        <p:spPr>
          <a:xfrm>
            <a:off x="411480" y="240030"/>
            <a:ext cx="82296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2300">
                <a:solidFill>
                  <a:srgbClr val="1B2A4A"/>
                </a:solidFill>
                <a:latin typeface="Open Sans"/>
                <a:ea typeface="Open Sans"/>
                <a:cs typeface="Open Sans"/>
                <a:sym typeface="Open Sans"/>
              </a:rPr>
              <a:t>The Threshold Choice</a:t>
            </a:r>
            <a:endParaRPr sz="1100"/>
          </a:p>
        </p:txBody>
      </p:sp>
      <p:sp>
        <p:nvSpPr>
          <p:cNvPr id="599" name="Google Shape;599;p38"/>
          <p:cNvSpPr txBox="1"/>
          <p:nvPr/>
        </p:nvSpPr>
        <p:spPr>
          <a:xfrm>
            <a:off x="411480" y="685800"/>
            <a:ext cx="822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Where you put it IS the business decision</a:t>
            </a:r>
            <a:endParaRPr sz="1100"/>
          </a:p>
        </p:txBody>
      </p:sp>
      <p:sp>
        <p:nvSpPr>
          <p:cNvPr id="600" name="Google Shape;600;p38"/>
          <p:cNvSpPr txBox="1"/>
          <p:nvPr/>
        </p:nvSpPr>
        <p:spPr>
          <a:xfrm>
            <a:off x="411480" y="1088189"/>
            <a:ext cx="82983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2C5697"/>
                </a:solidFill>
                <a:latin typeface="Open Sans"/>
                <a:ea typeface="Open Sans"/>
                <a:cs typeface="Open Sans"/>
                <a:sym typeface="Open Sans"/>
              </a:rPr>
              <a:t>Every threshold is a tradeoff between three things:</a:t>
            </a:r>
            <a:endParaRPr sz="1100"/>
          </a:p>
        </p:txBody>
      </p:sp>
      <p:sp>
        <p:nvSpPr>
          <p:cNvPr id="601" name="Google Shape;601;p38"/>
          <p:cNvSpPr/>
          <p:nvPr/>
        </p:nvSpPr>
        <p:spPr>
          <a:xfrm>
            <a:off x="446175" y="1551725"/>
            <a:ext cx="2331600" cy="1795800"/>
          </a:xfrm>
          <a:prstGeom prst="rect">
            <a:avLst/>
          </a:prstGeom>
          <a:solidFill>
            <a:srgbClr val="F4F5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602" name="Google Shape;602;p38"/>
          <p:cNvSpPr txBox="1"/>
          <p:nvPr/>
        </p:nvSpPr>
        <p:spPr>
          <a:xfrm>
            <a:off x="583342" y="1654595"/>
            <a:ext cx="2057400" cy="431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1400">
                <a:solidFill>
                  <a:srgbClr val="1B2A4A"/>
                </a:solidFill>
                <a:latin typeface="Open Sans"/>
                <a:ea typeface="Open Sans"/>
                <a:cs typeface="Open Sans"/>
                <a:sym typeface="Open Sans"/>
              </a:rPr>
              <a:t>Operational</a:t>
            </a:r>
            <a:endParaRPr sz="1100"/>
          </a:p>
          <a:p>
            <a:pPr indent="0" lvl="0" marL="0" marR="0" rtl="0" algn="ctr">
              <a:spcBef>
                <a:spcPts val="0"/>
              </a:spcBef>
              <a:spcAft>
                <a:spcPts val="0"/>
              </a:spcAft>
              <a:buNone/>
            </a:pPr>
            <a:r>
              <a:rPr b="1" lang="en-GB" sz="1400">
                <a:solidFill>
                  <a:srgbClr val="1B2A4A"/>
                </a:solidFill>
                <a:latin typeface="Open Sans"/>
                <a:ea typeface="Open Sans"/>
                <a:cs typeface="Open Sans"/>
                <a:sym typeface="Open Sans"/>
              </a:rPr>
              <a:t>capacity</a:t>
            </a:r>
            <a:endParaRPr sz="1100"/>
          </a:p>
        </p:txBody>
      </p:sp>
      <p:sp>
        <p:nvSpPr>
          <p:cNvPr id="603" name="Google Shape;603;p38"/>
          <p:cNvSpPr txBox="1"/>
          <p:nvPr/>
        </p:nvSpPr>
        <p:spPr>
          <a:xfrm>
            <a:off x="583342" y="2237525"/>
            <a:ext cx="2057400" cy="338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GB" sz="1100">
                <a:solidFill>
                  <a:srgbClr val="333D4D"/>
                </a:solidFill>
                <a:latin typeface="Open Sans"/>
                <a:ea typeface="Open Sans"/>
                <a:cs typeface="Open Sans"/>
                <a:sym typeface="Open Sans"/>
              </a:rPr>
              <a:t>How many can the team handle?</a:t>
            </a:r>
            <a:endParaRPr sz="1100"/>
          </a:p>
        </p:txBody>
      </p:sp>
      <p:sp>
        <p:nvSpPr>
          <p:cNvPr id="604" name="Google Shape;604;p38"/>
          <p:cNvSpPr txBox="1"/>
          <p:nvPr/>
        </p:nvSpPr>
        <p:spPr>
          <a:xfrm>
            <a:off x="583342" y="2786165"/>
            <a:ext cx="2057400" cy="169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1100">
                <a:solidFill>
                  <a:srgbClr val="2C5697"/>
                </a:solidFill>
                <a:latin typeface="Open Sans"/>
                <a:ea typeface="Open Sans"/>
                <a:cs typeface="Open Sans"/>
                <a:sym typeface="Open Sans"/>
              </a:rPr>
              <a:t>→ caps the number flagged</a:t>
            </a:r>
            <a:endParaRPr sz="1100"/>
          </a:p>
        </p:txBody>
      </p:sp>
      <p:sp>
        <p:nvSpPr>
          <p:cNvPr id="605" name="Google Shape;605;p38"/>
          <p:cNvSpPr/>
          <p:nvPr/>
        </p:nvSpPr>
        <p:spPr>
          <a:xfrm>
            <a:off x="3326537" y="1551725"/>
            <a:ext cx="2331600" cy="1795800"/>
          </a:xfrm>
          <a:prstGeom prst="rect">
            <a:avLst/>
          </a:prstGeom>
          <a:solidFill>
            <a:srgbClr val="F4F5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606" name="Google Shape;606;p38"/>
          <p:cNvSpPr txBox="1"/>
          <p:nvPr/>
        </p:nvSpPr>
        <p:spPr>
          <a:xfrm>
            <a:off x="3463703" y="1654595"/>
            <a:ext cx="2057400" cy="215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1400">
                <a:solidFill>
                  <a:srgbClr val="1B2A4A"/>
                </a:solidFill>
                <a:latin typeface="Open Sans"/>
                <a:ea typeface="Open Sans"/>
                <a:cs typeface="Open Sans"/>
                <a:sym typeface="Open Sans"/>
              </a:rPr>
              <a:t>Recall</a:t>
            </a:r>
            <a:endParaRPr sz="1100"/>
          </a:p>
        </p:txBody>
      </p:sp>
      <p:sp>
        <p:nvSpPr>
          <p:cNvPr id="607" name="Google Shape;607;p38"/>
          <p:cNvSpPr txBox="1"/>
          <p:nvPr/>
        </p:nvSpPr>
        <p:spPr>
          <a:xfrm>
            <a:off x="3463703" y="2237525"/>
            <a:ext cx="2057400" cy="338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GB" sz="1100">
                <a:solidFill>
                  <a:srgbClr val="333D4D"/>
                </a:solidFill>
                <a:latin typeface="Open Sans"/>
                <a:ea typeface="Open Sans"/>
                <a:cs typeface="Open Sans"/>
                <a:sym typeface="Open Sans"/>
              </a:rPr>
              <a:t>Of real churners, how many do we catch?</a:t>
            </a:r>
            <a:endParaRPr sz="1100"/>
          </a:p>
        </p:txBody>
      </p:sp>
      <p:sp>
        <p:nvSpPr>
          <p:cNvPr id="608" name="Google Shape;608;p38"/>
          <p:cNvSpPr txBox="1"/>
          <p:nvPr/>
        </p:nvSpPr>
        <p:spPr>
          <a:xfrm>
            <a:off x="3463703" y="2786165"/>
            <a:ext cx="2057400" cy="169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1100">
                <a:solidFill>
                  <a:srgbClr val="2C5697"/>
                </a:solidFill>
                <a:latin typeface="Open Sans"/>
                <a:ea typeface="Open Sans"/>
                <a:cs typeface="Open Sans"/>
                <a:sym typeface="Open Sans"/>
              </a:rPr>
              <a:t>→ higher recall = catch more</a:t>
            </a:r>
            <a:endParaRPr sz="1100"/>
          </a:p>
        </p:txBody>
      </p:sp>
      <p:sp>
        <p:nvSpPr>
          <p:cNvPr id="609" name="Google Shape;609;p38"/>
          <p:cNvSpPr/>
          <p:nvPr/>
        </p:nvSpPr>
        <p:spPr>
          <a:xfrm>
            <a:off x="6206899" y="1551725"/>
            <a:ext cx="2331600" cy="1795800"/>
          </a:xfrm>
          <a:prstGeom prst="rect">
            <a:avLst/>
          </a:prstGeom>
          <a:solidFill>
            <a:srgbClr val="F4F5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610" name="Google Shape;610;p38"/>
          <p:cNvSpPr txBox="1"/>
          <p:nvPr/>
        </p:nvSpPr>
        <p:spPr>
          <a:xfrm>
            <a:off x="6344063" y="1654595"/>
            <a:ext cx="2057400" cy="215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1400">
                <a:solidFill>
                  <a:srgbClr val="1B2A4A"/>
                </a:solidFill>
                <a:latin typeface="Open Sans"/>
                <a:ea typeface="Open Sans"/>
                <a:cs typeface="Open Sans"/>
                <a:sym typeface="Open Sans"/>
              </a:rPr>
              <a:t>Precision</a:t>
            </a:r>
            <a:endParaRPr sz="1100"/>
          </a:p>
        </p:txBody>
      </p:sp>
      <p:sp>
        <p:nvSpPr>
          <p:cNvPr id="611" name="Google Shape;611;p38"/>
          <p:cNvSpPr txBox="1"/>
          <p:nvPr/>
        </p:nvSpPr>
        <p:spPr>
          <a:xfrm>
            <a:off x="6344063" y="2237525"/>
            <a:ext cx="2057400" cy="169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GB" sz="1100">
                <a:solidFill>
                  <a:srgbClr val="333D4D"/>
                </a:solidFill>
                <a:latin typeface="Open Sans"/>
                <a:ea typeface="Open Sans"/>
                <a:cs typeface="Open Sans"/>
                <a:sym typeface="Open Sans"/>
              </a:rPr>
              <a:t>Of flagged, how many are real?</a:t>
            </a:r>
            <a:endParaRPr sz="1100"/>
          </a:p>
        </p:txBody>
      </p:sp>
      <p:sp>
        <p:nvSpPr>
          <p:cNvPr id="612" name="Google Shape;612;p38"/>
          <p:cNvSpPr txBox="1"/>
          <p:nvPr/>
        </p:nvSpPr>
        <p:spPr>
          <a:xfrm>
            <a:off x="6344063" y="2786165"/>
            <a:ext cx="2057400" cy="338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1100">
                <a:solidFill>
                  <a:srgbClr val="2C5697"/>
                </a:solidFill>
                <a:latin typeface="Open Sans"/>
                <a:ea typeface="Open Sans"/>
                <a:cs typeface="Open Sans"/>
                <a:sym typeface="Open Sans"/>
              </a:rPr>
              <a:t>→ higher precision = fewer wasted calls</a:t>
            </a:r>
            <a:endParaRPr sz="1100"/>
          </a:p>
        </p:txBody>
      </p:sp>
      <p:sp>
        <p:nvSpPr>
          <p:cNvPr id="613" name="Google Shape;613;p38"/>
          <p:cNvSpPr/>
          <p:nvPr/>
        </p:nvSpPr>
        <p:spPr>
          <a:xfrm>
            <a:off x="411480" y="3631433"/>
            <a:ext cx="8298300" cy="1132800"/>
          </a:xfrm>
          <a:prstGeom prst="rect">
            <a:avLst/>
          </a:prstGeom>
          <a:solidFill>
            <a:srgbClr val="1B2A4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614" name="Google Shape;614;p38"/>
          <p:cNvSpPr txBox="1"/>
          <p:nvPr/>
        </p:nvSpPr>
        <p:spPr>
          <a:xfrm>
            <a:off x="617220" y="3797895"/>
            <a:ext cx="78867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F4F5F7"/>
                </a:solidFill>
                <a:latin typeface="Open Sans"/>
                <a:ea typeface="Open Sans"/>
                <a:cs typeface="Open Sans"/>
                <a:sym typeface="Open Sans"/>
              </a:rPr>
              <a:t>Sarah's recommendation</a:t>
            </a:r>
            <a:endParaRPr sz="1100"/>
          </a:p>
        </p:txBody>
      </p:sp>
      <p:sp>
        <p:nvSpPr>
          <p:cNvPr id="615" name="Google Shape;615;p38"/>
          <p:cNvSpPr txBox="1"/>
          <p:nvPr/>
        </p:nvSpPr>
        <p:spPr>
          <a:xfrm>
            <a:off x="617220" y="4149090"/>
            <a:ext cx="7886700" cy="430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1" lang="en-GB" sz="1300">
                <a:solidFill>
                  <a:srgbClr val="FFFFFF"/>
                </a:solidFill>
                <a:latin typeface="Open Sans"/>
                <a:ea typeface="Open Sans"/>
                <a:cs typeface="Open Sans"/>
                <a:sym typeface="Open Sans"/>
              </a:rPr>
              <a:t>"Use threshold 0.25–0.30. Flags ~200 customers (= retention team capacity). Catches 60+ real churners. Accepts ~70% false-positive rate as the operational cost."</a:t>
            </a:r>
            <a:endParaRPr i="1" sz="11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42"/>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Open Sans"/>
              <a:ea typeface="Open Sans"/>
              <a:cs typeface="Open Sans"/>
              <a:sym typeface="Open Sans"/>
            </a:endParaRPr>
          </a:p>
        </p:txBody>
      </p:sp>
      <p:sp>
        <p:nvSpPr>
          <p:cNvPr id="660" name="Google Shape;660;p42"/>
          <p:cNvSpPr/>
          <p:nvPr/>
        </p:nvSpPr>
        <p:spPr>
          <a:xfrm>
            <a:off x="0" y="0"/>
            <a:ext cx="9143700" cy="1098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661" name="Google Shape;661;p42"/>
          <p:cNvSpPr txBox="1"/>
          <p:nvPr/>
        </p:nvSpPr>
        <p:spPr>
          <a:xfrm>
            <a:off x="411480" y="240030"/>
            <a:ext cx="82296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2300">
                <a:solidFill>
                  <a:srgbClr val="1B2A4A"/>
                </a:solidFill>
                <a:latin typeface="Open Sans"/>
                <a:ea typeface="Open Sans"/>
                <a:cs typeface="Open Sans"/>
                <a:sym typeface="Open Sans"/>
              </a:rPr>
              <a:t>Friday — Sarah's One-Pager to Marcus</a:t>
            </a:r>
            <a:endParaRPr sz="1100"/>
          </a:p>
        </p:txBody>
      </p:sp>
      <p:sp>
        <p:nvSpPr>
          <p:cNvPr id="662" name="Google Shape;662;p42"/>
          <p:cNvSpPr txBox="1"/>
          <p:nvPr/>
        </p:nvSpPr>
        <p:spPr>
          <a:xfrm>
            <a:off x="411480" y="685800"/>
            <a:ext cx="822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The full recommendation in a single table</a:t>
            </a:r>
            <a:endParaRPr sz="1100"/>
          </a:p>
        </p:txBody>
      </p:sp>
      <p:sp>
        <p:nvSpPr>
          <p:cNvPr id="663" name="Google Shape;663;p42"/>
          <p:cNvSpPr/>
          <p:nvPr/>
        </p:nvSpPr>
        <p:spPr>
          <a:xfrm>
            <a:off x="411480" y="1172056"/>
            <a:ext cx="2537700" cy="526200"/>
          </a:xfrm>
          <a:prstGeom prst="rect">
            <a:avLst/>
          </a:prstGeom>
          <a:solidFill>
            <a:srgbClr val="1B2A4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664" name="Google Shape;664;p42"/>
          <p:cNvSpPr txBox="1"/>
          <p:nvPr/>
        </p:nvSpPr>
        <p:spPr>
          <a:xfrm>
            <a:off x="582930" y="1309216"/>
            <a:ext cx="2331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300">
                <a:solidFill>
                  <a:srgbClr val="F4F5F7"/>
                </a:solidFill>
                <a:latin typeface="Open Sans"/>
                <a:ea typeface="Open Sans"/>
                <a:cs typeface="Open Sans"/>
                <a:sym typeface="Open Sans"/>
              </a:rPr>
              <a:t>Pipeline</a:t>
            </a:r>
            <a:endParaRPr sz="1100"/>
          </a:p>
        </p:txBody>
      </p:sp>
      <p:sp>
        <p:nvSpPr>
          <p:cNvPr id="665" name="Google Shape;665;p42"/>
          <p:cNvSpPr/>
          <p:nvPr/>
        </p:nvSpPr>
        <p:spPr>
          <a:xfrm>
            <a:off x="2983229" y="1172056"/>
            <a:ext cx="5726400" cy="526200"/>
          </a:xfrm>
          <a:prstGeom prst="rect">
            <a:avLst/>
          </a:prstGeom>
          <a:solidFill>
            <a:srgbClr val="F4F5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666" name="Google Shape;666;p42"/>
          <p:cNvSpPr txBox="1"/>
          <p:nvPr/>
        </p:nvSpPr>
        <p:spPr>
          <a:xfrm>
            <a:off x="3154680" y="1309216"/>
            <a:ext cx="54864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200">
                <a:solidFill>
                  <a:srgbClr val="333D4D"/>
                </a:solidFill>
                <a:latin typeface="Open Sans"/>
                <a:ea typeface="Open Sans"/>
                <a:cs typeface="Open Sans"/>
                <a:sym typeface="Open Sans"/>
              </a:rPr>
              <a:t>preprocess → LogisticRegression. One sklearn Pipeline.</a:t>
            </a:r>
            <a:endParaRPr sz="1100"/>
          </a:p>
        </p:txBody>
      </p:sp>
      <p:sp>
        <p:nvSpPr>
          <p:cNvPr id="667" name="Google Shape;667;p42"/>
          <p:cNvSpPr/>
          <p:nvPr/>
        </p:nvSpPr>
        <p:spPr>
          <a:xfrm>
            <a:off x="411480" y="1686406"/>
            <a:ext cx="2537700" cy="526200"/>
          </a:xfrm>
          <a:prstGeom prst="rect">
            <a:avLst/>
          </a:prstGeom>
          <a:solidFill>
            <a:srgbClr val="1B2A4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668" name="Google Shape;668;p42"/>
          <p:cNvSpPr txBox="1"/>
          <p:nvPr/>
        </p:nvSpPr>
        <p:spPr>
          <a:xfrm>
            <a:off x="582930" y="1823566"/>
            <a:ext cx="2331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300">
                <a:solidFill>
                  <a:srgbClr val="F4F5F7"/>
                </a:solidFill>
                <a:latin typeface="Open Sans"/>
                <a:ea typeface="Open Sans"/>
                <a:cs typeface="Open Sans"/>
                <a:sym typeface="Open Sans"/>
              </a:rPr>
              <a:t>CV accuracy</a:t>
            </a:r>
            <a:endParaRPr sz="1100"/>
          </a:p>
        </p:txBody>
      </p:sp>
      <p:sp>
        <p:nvSpPr>
          <p:cNvPr id="669" name="Google Shape;669;p42"/>
          <p:cNvSpPr/>
          <p:nvPr/>
        </p:nvSpPr>
        <p:spPr>
          <a:xfrm>
            <a:off x="2983229" y="1686406"/>
            <a:ext cx="5726400" cy="526200"/>
          </a:xfrm>
          <a:prstGeom prst="rect">
            <a:avLst/>
          </a:prstGeom>
          <a:solidFill>
            <a:srgbClr val="F4F5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670" name="Google Shape;670;p42"/>
          <p:cNvSpPr txBox="1"/>
          <p:nvPr/>
        </p:nvSpPr>
        <p:spPr>
          <a:xfrm>
            <a:off x="3154680" y="1823566"/>
            <a:ext cx="54864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200">
                <a:solidFill>
                  <a:srgbClr val="333D4D"/>
                </a:solidFill>
                <a:latin typeface="Open Sans"/>
                <a:ea typeface="Open Sans"/>
                <a:cs typeface="Open Sans"/>
                <a:sym typeface="Open Sans"/>
              </a:rPr>
              <a:t>88% — but irrelevant, baseline is 88% too</a:t>
            </a:r>
            <a:endParaRPr sz="1100"/>
          </a:p>
        </p:txBody>
      </p:sp>
      <p:sp>
        <p:nvSpPr>
          <p:cNvPr id="671" name="Google Shape;671;p42"/>
          <p:cNvSpPr/>
          <p:nvPr/>
        </p:nvSpPr>
        <p:spPr>
          <a:xfrm>
            <a:off x="411480" y="2200756"/>
            <a:ext cx="2537700" cy="526200"/>
          </a:xfrm>
          <a:prstGeom prst="rect">
            <a:avLst/>
          </a:prstGeom>
          <a:solidFill>
            <a:srgbClr val="1B2A4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672" name="Google Shape;672;p42"/>
          <p:cNvSpPr txBox="1"/>
          <p:nvPr/>
        </p:nvSpPr>
        <p:spPr>
          <a:xfrm>
            <a:off x="582930" y="2337916"/>
            <a:ext cx="2331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300">
                <a:solidFill>
                  <a:srgbClr val="F4F5F7"/>
                </a:solidFill>
                <a:latin typeface="Open Sans"/>
                <a:ea typeface="Open Sans"/>
                <a:cs typeface="Open Sans"/>
                <a:sym typeface="Open Sans"/>
              </a:rPr>
              <a:t>Recommended threshold</a:t>
            </a:r>
            <a:endParaRPr sz="1100"/>
          </a:p>
        </p:txBody>
      </p:sp>
      <p:sp>
        <p:nvSpPr>
          <p:cNvPr id="673" name="Google Shape;673;p42"/>
          <p:cNvSpPr/>
          <p:nvPr/>
        </p:nvSpPr>
        <p:spPr>
          <a:xfrm>
            <a:off x="2983229" y="2200756"/>
            <a:ext cx="5726400" cy="526200"/>
          </a:xfrm>
          <a:prstGeom prst="rect">
            <a:avLst/>
          </a:prstGeom>
          <a:solidFill>
            <a:srgbClr val="F4F5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674" name="Google Shape;674;p42"/>
          <p:cNvSpPr txBox="1"/>
          <p:nvPr/>
        </p:nvSpPr>
        <p:spPr>
          <a:xfrm>
            <a:off x="3154680" y="2337916"/>
            <a:ext cx="54864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200">
                <a:solidFill>
                  <a:srgbClr val="333D4D"/>
                </a:solidFill>
                <a:latin typeface="Open Sans"/>
                <a:ea typeface="Open Sans"/>
                <a:cs typeface="Open Sans"/>
                <a:sym typeface="Open Sans"/>
              </a:rPr>
              <a:t>0.25 — surfaces ~200 customers, matches retention team capacity</a:t>
            </a:r>
            <a:endParaRPr sz="1100"/>
          </a:p>
        </p:txBody>
      </p:sp>
      <p:sp>
        <p:nvSpPr>
          <p:cNvPr id="675" name="Google Shape;675;p42"/>
          <p:cNvSpPr/>
          <p:nvPr/>
        </p:nvSpPr>
        <p:spPr>
          <a:xfrm>
            <a:off x="411480" y="2715106"/>
            <a:ext cx="2537700" cy="526200"/>
          </a:xfrm>
          <a:prstGeom prst="rect">
            <a:avLst/>
          </a:prstGeom>
          <a:solidFill>
            <a:srgbClr val="1B2A4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676" name="Google Shape;676;p42"/>
          <p:cNvSpPr txBox="1"/>
          <p:nvPr/>
        </p:nvSpPr>
        <p:spPr>
          <a:xfrm>
            <a:off x="582930" y="2852266"/>
            <a:ext cx="2331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300">
                <a:solidFill>
                  <a:srgbClr val="F4F5F7"/>
                </a:solidFill>
                <a:latin typeface="Open Sans"/>
                <a:ea typeface="Open Sans"/>
                <a:cs typeface="Open Sans"/>
                <a:sym typeface="Open Sans"/>
              </a:rPr>
              <a:t>At T=0.25</a:t>
            </a:r>
            <a:endParaRPr sz="1100"/>
          </a:p>
        </p:txBody>
      </p:sp>
      <p:sp>
        <p:nvSpPr>
          <p:cNvPr id="677" name="Google Shape;677;p42"/>
          <p:cNvSpPr/>
          <p:nvPr/>
        </p:nvSpPr>
        <p:spPr>
          <a:xfrm>
            <a:off x="2983229" y="2715106"/>
            <a:ext cx="5726400" cy="526200"/>
          </a:xfrm>
          <a:prstGeom prst="rect">
            <a:avLst/>
          </a:prstGeom>
          <a:solidFill>
            <a:srgbClr val="F4F5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678" name="Google Shape;678;p42"/>
          <p:cNvSpPr txBox="1"/>
          <p:nvPr/>
        </p:nvSpPr>
        <p:spPr>
          <a:xfrm>
            <a:off x="3154680" y="2852266"/>
            <a:ext cx="54864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200">
                <a:solidFill>
                  <a:srgbClr val="333D4D"/>
                </a:solidFill>
                <a:latin typeface="Open Sans"/>
                <a:ea typeface="Open Sans"/>
                <a:cs typeface="Open Sans"/>
                <a:sym typeface="Open Sans"/>
              </a:rPr>
              <a:t>Precision 0.30 · Recall 0.26 · F1 0.28</a:t>
            </a:r>
            <a:endParaRPr sz="1100"/>
          </a:p>
        </p:txBody>
      </p:sp>
      <p:sp>
        <p:nvSpPr>
          <p:cNvPr id="679" name="Google Shape;679;p42"/>
          <p:cNvSpPr/>
          <p:nvPr/>
        </p:nvSpPr>
        <p:spPr>
          <a:xfrm>
            <a:off x="411480" y="3229456"/>
            <a:ext cx="2537700" cy="526200"/>
          </a:xfrm>
          <a:prstGeom prst="rect">
            <a:avLst/>
          </a:prstGeom>
          <a:solidFill>
            <a:srgbClr val="1B2A4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680" name="Google Shape;680;p42"/>
          <p:cNvSpPr txBox="1"/>
          <p:nvPr/>
        </p:nvSpPr>
        <p:spPr>
          <a:xfrm>
            <a:off x="582930" y="3366616"/>
            <a:ext cx="2331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300">
                <a:solidFill>
                  <a:srgbClr val="F4F5F7"/>
                </a:solidFill>
                <a:latin typeface="Open Sans"/>
                <a:ea typeface="Open Sans"/>
                <a:cs typeface="Open Sans"/>
                <a:sym typeface="Open Sans"/>
              </a:rPr>
              <a:t>Churners caught</a:t>
            </a:r>
            <a:endParaRPr sz="1100"/>
          </a:p>
        </p:txBody>
      </p:sp>
      <p:sp>
        <p:nvSpPr>
          <p:cNvPr id="681" name="Google Shape;681;p42"/>
          <p:cNvSpPr/>
          <p:nvPr/>
        </p:nvSpPr>
        <p:spPr>
          <a:xfrm>
            <a:off x="2983229" y="3229456"/>
            <a:ext cx="5726400" cy="526200"/>
          </a:xfrm>
          <a:prstGeom prst="rect">
            <a:avLst/>
          </a:prstGeom>
          <a:solidFill>
            <a:srgbClr val="F4F5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682" name="Google Shape;682;p42"/>
          <p:cNvSpPr txBox="1"/>
          <p:nvPr/>
        </p:nvSpPr>
        <p:spPr>
          <a:xfrm>
            <a:off x="3154680" y="3366616"/>
            <a:ext cx="54864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200">
                <a:solidFill>
                  <a:srgbClr val="333D4D"/>
                </a:solidFill>
                <a:latin typeface="Open Sans"/>
                <a:ea typeface="Open Sans"/>
                <a:cs typeface="Open Sans"/>
                <a:sym typeface="Open Sans"/>
              </a:rPr>
              <a:t>63 of 239 in the test set (would have been 7 at T=0.5)</a:t>
            </a:r>
            <a:endParaRPr sz="1100"/>
          </a:p>
        </p:txBody>
      </p:sp>
      <p:sp>
        <p:nvSpPr>
          <p:cNvPr id="683" name="Google Shape;683;p42"/>
          <p:cNvSpPr/>
          <p:nvPr/>
        </p:nvSpPr>
        <p:spPr>
          <a:xfrm>
            <a:off x="411480" y="3743806"/>
            <a:ext cx="2537700" cy="526200"/>
          </a:xfrm>
          <a:prstGeom prst="rect">
            <a:avLst/>
          </a:prstGeom>
          <a:solidFill>
            <a:srgbClr val="1B2A4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684" name="Google Shape;684;p42"/>
          <p:cNvSpPr txBox="1"/>
          <p:nvPr/>
        </p:nvSpPr>
        <p:spPr>
          <a:xfrm>
            <a:off x="582930" y="3880966"/>
            <a:ext cx="2331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300">
                <a:solidFill>
                  <a:srgbClr val="F4F5F7"/>
                </a:solidFill>
                <a:latin typeface="Open Sans"/>
                <a:ea typeface="Open Sans"/>
                <a:cs typeface="Open Sans"/>
                <a:sym typeface="Open Sans"/>
              </a:rPr>
              <a:t>Top features (causal)</a:t>
            </a:r>
            <a:endParaRPr sz="1100"/>
          </a:p>
        </p:txBody>
      </p:sp>
      <p:sp>
        <p:nvSpPr>
          <p:cNvPr id="685" name="Google Shape;685;p42"/>
          <p:cNvSpPr/>
          <p:nvPr/>
        </p:nvSpPr>
        <p:spPr>
          <a:xfrm>
            <a:off x="2983229" y="3743806"/>
            <a:ext cx="5726400" cy="526200"/>
          </a:xfrm>
          <a:prstGeom prst="rect">
            <a:avLst/>
          </a:prstGeom>
          <a:solidFill>
            <a:srgbClr val="F4F5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686" name="Google Shape;686;p42"/>
          <p:cNvSpPr txBox="1"/>
          <p:nvPr/>
        </p:nvSpPr>
        <p:spPr>
          <a:xfrm>
            <a:off x="3154680" y="3880966"/>
            <a:ext cx="54864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200">
                <a:solidFill>
                  <a:srgbClr val="333D4D"/>
                </a:solidFill>
                <a:latin typeface="Open Sans"/>
                <a:ea typeface="Open Sans"/>
                <a:cs typeface="Open Sans"/>
                <a:sym typeface="Open Sans"/>
              </a:rPr>
              <a:t>returns_per_purchase (+) · tenure_months (−) · review_polarity (−)</a:t>
            </a:r>
            <a:endParaRPr sz="1100"/>
          </a:p>
        </p:txBody>
      </p:sp>
      <p:sp>
        <p:nvSpPr>
          <p:cNvPr id="687" name="Google Shape;687;p42"/>
          <p:cNvSpPr/>
          <p:nvPr/>
        </p:nvSpPr>
        <p:spPr>
          <a:xfrm>
            <a:off x="411475" y="4326725"/>
            <a:ext cx="8298300" cy="433200"/>
          </a:xfrm>
          <a:prstGeom prst="rect">
            <a:avLst/>
          </a:prstGeom>
          <a:solidFill>
            <a:srgbClr val="1B2A4A"/>
          </a:solidFill>
          <a:ln>
            <a:noFill/>
          </a:ln>
        </p:spPr>
        <p:txBody>
          <a:bodyPr anchorCtr="0" anchor="ctr" bIns="108000" lIns="108000" spcFirstLastPara="1" rIns="108000" wrap="square" tIns="108000">
            <a:noAutofit/>
          </a:bodyPr>
          <a:lstStyle/>
          <a:p>
            <a:pPr indent="0" lvl="0" marL="0" rtl="0" algn="l">
              <a:spcBef>
                <a:spcPts val="0"/>
              </a:spcBef>
              <a:spcAft>
                <a:spcPts val="0"/>
              </a:spcAft>
              <a:buNone/>
            </a:pPr>
            <a:r>
              <a:rPr lang="en-GB" sz="1200">
                <a:solidFill>
                  <a:srgbClr val="DDE1E6"/>
                </a:solidFill>
                <a:latin typeface="Open Sans"/>
                <a:ea typeface="Open Sans"/>
                <a:cs typeface="Open Sans"/>
                <a:sym typeface="Open Sans"/>
              </a:rPr>
              <a:t xml:space="preserve">Marcus nods. </a:t>
            </a:r>
            <a:r>
              <a:rPr i="1" lang="en-GB" sz="1200">
                <a:solidFill>
                  <a:srgbClr val="DDE1E6"/>
                </a:solidFill>
                <a:latin typeface="Open Sans"/>
                <a:ea typeface="Open Sans"/>
                <a:cs typeface="Open Sans"/>
                <a:sym typeface="Open Sans"/>
              </a:rPr>
              <a:t>"This is the first model we own. Can you make it BETTER next week?"</a:t>
            </a:r>
            <a:endParaRPr>
              <a:solidFill>
                <a:schemeClr val="lt1"/>
              </a:solidFill>
              <a:latin typeface="Open Sans"/>
              <a:ea typeface="Open Sans"/>
              <a:cs typeface="Open Sans"/>
              <a:sym typeface="Open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43"/>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Open Sans"/>
              <a:ea typeface="Open Sans"/>
              <a:cs typeface="Open Sans"/>
              <a:sym typeface="Open Sans"/>
            </a:endParaRPr>
          </a:p>
        </p:txBody>
      </p:sp>
      <p:sp>
        <p:nvSpPr>
          <p:cNvPr id="694" name="Google Shape;694;p43"/>
          <p:cNvSpPr/>
          <p:nvPr/>
        </p:nvSpPr>
        <p:spPr>
          <a:xfrm>
            <a:off x="0" y="0"/>
            <a:ext cx="9143700" cy="5143500"/>
          </a:xfrm>
          <a:prstGeom prst="rect">
            <a:avLst/>
          </a:prstGeom>
          <a:solidFill>
            <a:srgbClr val="1B2A4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695" name="Google Shape;695;p43"/>
          <p:cNvSpPr txBox="1"/>
          <p:nvPr/>
        </p:nvSpPr>
        <p:spPr>
          <a:xfrm>
            <a:off x="548640" y="548640"/>
            <a:ext cx="80238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600">
                <a:solidFill>
                  <a:schemeClr val="accent6"/>
                </a:solidFill>
                <a:latin typeface="Open Sans"/>
                <a:ea typeface="Open Sans"/>
                <a:cs typeface="Open Sans"/>
                <a:sym typeface="Open Sans"/>
              </a:rPr>
              <a:t>Bridge to L04</a:t>
            </a:r>
            <a:endParaRPr sz="1100">
              <a:solidFill>
                <a:schemeClr val="accent6"/>
              </a:solidFill>
              <a:latin typeface="Open Sans"/>
              <a:ea typeface="Open Sans"/>
              <a:cs typeface="Open Sans"/>
              <a:sym typeface="Open Sans"/>
            </a:endParaRPr>
          </a:p>
        </p:txBody>
      </p:sp>
      <p:sp>
        <p:nvSpPr>
          <p:cNvPr id="696" name="Google Shape;696;p43"/>
          <p:cNvSpPr txBox="1"/>
          <p:nvPr/>
        </p:nvSpPr>
        <p:spPr>
          <a:xfrm>
            <a:off x="548640" y="1039975"/>
            <a:ext cx="73383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300">
                <a:solidFill>
                  <a:srgbClr val="F4F5F7"/>
                </a:solidFill>
                <a:latin typeface="Open Sans"/>
                <a:ea typeface="Open Sans"/>
                <a:cs typeface="Open Sans"/>
                <a:sym typeface="Open Sans"/>
              </a:rPr>
              <a:t>Marcus, after the Friday meeting:</a:t>
            </a:r>
            <a:endParaRPr sz="1100">
              <a:latin typeface="Open Sans"/>
              <a:ea typeface="Open Sans"/>
              <a:cs typeface="Open Sans"/>
              <a:sym typeface="Open Sans"/>
            </a:endParaRPr>
          </a:p>
        </p:txBody>
      </p:sp>
      <p:sp>
        <p:nvSpPr>
          <p:cNvPr id="697" name="Google Shape;697;p43"/>
          <p:cNvSpPr txBox="1"/>
          <p:nvPr/>
        </p:nvSpPr>
        <p:spPr>
          <a:xfrm>
            <a:off x="685800" y="3223260"/>
            <a:ext cx="77496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600">
                <a:solidFill>
                  <a:schemeClr val="accent6"/>
                </a:solidFill>
                <a:latin typeface="Open Sans"/>
                <a:ea typeface="Open Sans"/>
                <a:cs typeface="Open Sans"/>
                <a:sym typeface="Open Sans"/>
              </a:rPr>
              <a:t>Lesson 4 — Advanced Supervised Learning</a:t>
            </a:r>
            <a:endParaRPr sz="1600">
              <a:solidFill>
                <a:schemeClr val="accent6"/>
              </a:solidFill>
              <a:latin typeface="Open Sans"/>
              <a:ea typeface="Open Sans"/>
              <a:cs typeface="Open Sans"/>
              <a:sym typeface="Open Sans"/>
            </a:endParaRPr>
          </a:p>
        </p:txBody>
      </p:sp>
      <p:sp>
        <p:nvSpPr>
          <p:cNvPr id="698" name="Google Shape;698;p43"/>
          <p:cNvSpPr txBox="1"/>
          <p:nvPr/>
        </p:nvSpPr>
        <p:spPr>
          <a:xfrm>
            <a:off x="685800" y="3600450"/>
            <a:ext cx="774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300">
                <a:solidFill>
                  <a:srgbClr val="F4F5F7"/>
                </a:solidFill>
                <a:latin typeface="Open Sans"/>
                <a:ea typeface="Open Sans"/>
                <a:cs typeface="Open Sans"/>
                <a:sym typeface="Open Sans"/>
              </a:rPr>
              <a:t>Decision Trees · Random Forests · Gradient Boosting (XGBoost / LightGBM)</a:t>
            </a:r>
            <a:endParaRPr sz="1300">
              <a:latin typeface="Open Sans"/>
              <a:ea typeface="Open Sans"/>
              <a:cs typeface="Open Sans"/>
              <a:sym typeface="Open Sans"/>
            </a:endParaRPr>
          </a:p>
        </p:txBody>
      </p:sp>
      <p:sp>
        <p:nvSpPr>
          <p:cNvPr id="699" name="Google Shape;699;p43"/>
          <p:cNvSpPr txBox="1"/>
          <p:nvPr/>
        </p:nvSpPr>
        <p:spPr>
          <a:xfrm>
            <a:off x="685800" y="4011930"/>
            <a:ext cx="774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300">
                <a:solidFill>
                  <a:srgbClr val="F4F5F7"/>
                </a:solidFill>
                <a:latin typeface="Open Sans"/>
                <a:ea typeface="Open Sans"/>
                <a:cs typeface="Open Sans"/>
                <a:sym typeface="Open Sans"/>
              </a:rPr>
              <a:t>The SAME pipeline — just a different last step. Plus regularization, hyperparameter tuning.</a:t>
            </a:r>
            <a:endParaRPr sz="1300">
              <a:latin typeface="Open Sans"/>
              <a:ea typeface="Open Sans"/>
              <a:cs typeface="Open Sans"/>
              <a:sym typeface="Open Sans"/>
            </a:endParaRPr>
          </a:p>
        </p:txBody>
      </p:sp>
      <p:sp>
        <p:nvSpPr>
          <p:cNvPr id="700" name="Google Shape;700;p43"/>
          <p:cNvSpPr txBox="1"/>
          <p:nvPr/>
        </p:nvSpPr>
        <p:spPr>
          <a:xfrm>
            <a:off x="685800" y="4389120"/>
            <a:ext cx="774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300">
                <a:solidFill>
                  <a:srgbClr val="DDE1E6"/>
                </a:solidFill>
                <a:latin typeface="Open Sans"/>
                <a:ea typeface="Open Sans"/>
                <a:cs typeface="Open Sans"/>
                <a:sym typeface="Open Sans"/>
              </a:rPr>
              <a:t>After L04 → first kaggle competition. After L10 → mini hackathon.</a:t>
            </a:r>
            <a:endParaRPr sz="1300">
              <a:latin typeface="Open Sans"/>
              <a:ea typeface="Open Sans"/>
              <a:cs typeface="Open Sans"/>
              <a:sym typeface="Open Sans"/>
            </a:endParaRPr>
          </a:p>
        </p:txBody>
      </p:sp>
      <p:sp>
        <p:nvSpPr>
          <p:cNvPr id="701" name="Google Shape;701;p43"/>
          <p:cNvSpPr txBox="1"/>
          <p:nvPr/>
        </p:nvSpPr>
        <p:spPr>
          <a:xfrm>
            <a:off x="838600" y="1415600"/>
            <a:ext cx="6636300" cy="1564200"/>
          </a:xfrm>
          <a:prstGeom prst="rect">
            <a:avLst/>
          </a:prstGeom>
          <a:noFill/>
          <a:ln cap="flat" cmpd="sng" w="9525">
            <a:solidFill>
              <a:srgbClr val="4F81BD"/>
            </a:solidFill>
            <a:prstDash val="solid"/>
            <a:round/>
            <a:headEnd len="sm" w="sm" type="none"/>
            <a:tailEnd len="sm" w="sm" type="none"/>
          </a:ln>
        </p:spPr>
        <p:txBody>
          <a:bodyPr anchorCtr="0" anchor="t" bIns="180000" lIns="180000" spcFirstLastPara="1" rIns="180000" wrap="square" tIns="180000">
            <a:spAutoFit/>
          </a:bodyPr>
          <a:lstStyle/>
          <a:p>
            <a:pPr indent="0" lvl="0" marL="0" marR="0" rtl="0" algn="l">
              <a:spcBef>
                <a:spcPts val="0"/>
              </a:spcBef>
              <a:spcAft>
                <a:spcPts val="0"/>
              </a:spcAft>
              <a:buNone/>
            </a:pPr>
            <a:r>
              <a:rPr i="1" lang="en-GB" sz="1300">
                <a:solidFill>
                  <a:srgbClr val="FFFFFF"/>
                </a:solidFill>
                <a:latin typeface="Open Sans"/>
                <a:ea typeface="Open Sans"/>
                <a:cs typeface="Open Sans"/>
                <a:sym typeface="Open Sans"/>
              </a:rPr>
              <a:t>"This is the first model we own. The numbers are honest.</a:t>
            </a:r>
            <a:endParaRPr i="1" sz="1300">
              <a:solidFill>
                <a:srgbClr val="FFFFFF"/>
              </a:solidFill>
              <a:latin typeface="Open Sans"/>
              <a:ea typeface="Open Sans"/>
              <a:cs typeface="Open Sans"/>
              <a:sym typeface="Open Sans"/>
            </a:endParaRPr>
          </a:p>
          <a:p>
            <a:pPr indent="0" lvl="0" marL="0" marR="0" rtl="0" algn="l">
              <a:spcBef>
                <a:spcPts val="0"/>
              </a:spcBef>
              <a:spcAft>
                <a:spcPts val="0"/>
              </a:spcAft>
              <a:buNone/>
            </a:pPr>
            <a:r>
              <a:t/>
            </a:r>
            <a:endParaRPr i="1" sz="1300">
              <a:solidFill>
                <a:srgbClr val="FFFFFF"/>
              </a:solidFill>
              <a:latin typeface="Open Sans"/>
              <a:ea typeface="Open Sans"/>
              <a:cs typeface="Open Sans"/>
              <a:sym typeface="Open Sans"/>
            </a:endParaRPr>
          </a:p>
          <a:p>
            <a:pPr indent="0" lvl="0" marL="0" marR="0" rtl="0" algn="l">
              <a:spcBef>
                <a:spcPts val="0"/>
              </a:spcBef>
              <a:spcAft>
                <a:spcPts val="0"/>
              </a:spcAft>
              <a:buNone/>
            </a:pPr>
            <a:r>
              <a:rPr i="1" lang="en-GB" sz="1300">
                <a:solidFill>
                  <a:srgbClr val="FFFFFF"/>
                </a:solidFill>
                <a:latin typeface="Open Sans"/>
                <a:ea typeface="Open Sans"/>
                <a:cs typeface="Open Sans"/>
                <a:sym typeface="Open Sans"/>
              </a:rPr>
              <a:t>But we're hitting capacity at 200 calls. If you could squeeze MORE recall without more false positives, we'd save real money.</a:t>
            </a:r>
            <a:endParaRPr i="1" sz="1300">
              <a:solidFill>
                <a:srgbClr val="FFFFFF"/>
              </a:solidFill>
              <a:latin typeface="Open Sans"/>
              <a:ea typeface="Open Sans"/>
              <a:cs typeface="Open Sans"/>
              <a:sym typeface="Open Sans"/>
            </a:endParaRPr>
          </a:p>
          <a:p>
            <a:pPr indent="0" lvl="0" marL="0" marR="0" rtl="0" algn="l">
              <a:spcBef>
                <a:spcPts val="0"/>
              </a:spcBef>
              <a:spcAft>
                <a:spcPts val="0"/>
              </a:spcAft>
              <a:buNone/>
            </a:pPr>
            <a:r>
              <a:t/>
            </a:r>
            <a:endParaRPr i="1" sz="1300">
              <a:solidFill>
                <a:srgbClr val="FFFFFF"/>
              </a:solidFill>
              <a:latin typeface="Open Sans"/>
              <a:ea typeface="Open Sans"/>
              <a:cs typeface="Open Sans"/>
              <a:sym typeface="Open Sans"/>
            </a:endParaRPr>
          </a:p>
          <a:p>
            <a:pPr indent="0" lvl="0" marL="0" marR="0" rtl="0" algn="l">
              <a:spcBef>
                <a:spcPts val="0"/>
              </a:spcBef>
              <a:spcAft>
                <a:spcPts val="0"/>
              </a:spcAft>
              <a:buNone/>
            </a:pPr>
            <a:r>
              <a:rPr i="1" lang="en-GB" sz="1300">
                <a:solidFill>
                  <a:srgbClr val="FFFFFF"/>
                </a:solidFill>
                <a:latin typeface="Open Sans"/>
                <a:ea typeface="Open Sans"/>
                <a:cs typeface="Open Sans"/>
                <a:sym typeface="Open Sans"/>
              </a:rPr>
              <a:t>Try those tree-based models you mentioned."</a:t>
            </a:r>
            <a:endParaRPr i="1" sz="1300">
              <a:solidFill>
                <a:srgbClr val="FFFFFF"/>
              </a:solidFill>
              <a:latin typeface="Open Sans"/>
              <a:ea typeface="Open Sans"/>
              <a:cs typeface="Open Sans"/>
              <a:sym typeface="Open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47"/>
          <p:cNvSpPr txBox="1"/>
          <p:nvPr>
            <p:ph type="title"/>
          </p:nvPr>
        </p:nvSpPr>
        <p:spPr>
          <a:xfrm>
            <a:off x="376550" y="147875"/>
            <a:ext cx="8310000" cy="7599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GB"/>
              <a:t>End of Lesson - Exit Ticket</a:t>
            </a:r>
            <a:endParaRPr b="1"/>
          </a:p>
        </p:txBody>
      </p:sp>
      <p:pic>
        <p:nvPicPr>
          <p:cNvPr id="751" name="Google Shape;751;p47"/>
          <p:cNvPicPr preferRelativeResize="0"/>
          <p:nvPr/>
        </p:nvPicPr>
        <p:blipFill>
          <a:blip r:embed="rId3">
            <a:alphaModFix/>
          </a:blip>
          <a:stretch>
            <a:fillRect/>
          </a:stretch>
        </p:blipFill>
        <p:spPr>
          <a:xfrm>
            <a:off x="6391250" y="2165525"/>
            <a:ext cx="2719974" cy="2719974"/>
          </a:xfrm>
          <a:prstGeom prst="rect">
            <a:avLst/>
          </a:prstGeom>
          <a:noFill/>
          <a:ln>
            <a:noFill/>
          </a:ln>
        </p:spPr>
      </p:pic>
      <p:sp>
        <p:nvSpPr>
          <p:cNvPr id="752" name="Google Shape;752;p47"/>
          <p:cNvSpPr txBox="1"/>
          <p:nvPr/>
        </p:nvSpPr>
        <p:spPr>
          <a:xfrm>
            <a:off x="376550" y="1589175"/>
            <a:ext cx="7107000" cy="1293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2400">
                <a:latin typeface="Open Sans"/>
                <a:ea typeface="Open Sans"/>
                <a:cs typeface="Open Sans"/>
                <a:sym typeface="Open Sans"/>
              </a:rPr>
              <a:t>Survey Link</a:t>
            </a:r>
            <a:endParaRPr b="1" sz="2400">
              <a:latin typeface="Open Sans"/>
              <a:ea typeface="Open Sans"/>
              <a:cs typeface="Open Sans"/>
              <a:sym typeface="Open Sans"/>
            </a:endParaRPr>
          </a:p>
          <a:p>
            <a:pPr indent="0" lvl="0" marL="0" rtl="0" algn="ctr">
              <a:spcBef>
                <a:spcPts val="0"/>
              </a:spcBef>
              <a:spcAft>
                <a:spcPts val="0"/>
              </a:spcAft>
              <a:buNone/>
            </a:pPr>
            <a:r>
              <a:t/>
            </a:r>
            <a:endParaRPr sz="2400">
              <a:latin typeface="Open Sans Light"/>
              <a:ea typeface="Open Sans Light"/>
              <a:cs typeface="Open Sans Light"/>
              <a:sym typeface="Open Sans Light"/>
            </a:endParaRPr>
          </a:p>
          <a:p>
            <a:pPr indent="0" lvl="0" marL="0" rtl="0" algn="ctr">
              <a:spcBef>
                <a:spcPts val="0"/>
              </a:spcBef>
              <a:spcAft>
                <a:spcPts val="0"/>
              </a:spcAft>
              <a:buNone/>
            </a:pPr>
            <a:r>
              <a:rPr lang="en-GB" sz="2400">
                <a:latin typeface="Open Sans Light"/>
                <a:ea typeface="Open Sans Light"/>
                <a:cs typeface="Open Sans Light"/>
                <a:sym typeface="Open Sans Light"/>
              </a:rPr>
              <a:t>Slido link will be provided in class</a:t>
            </a:r>
            <a:endParaRPr sz="2400">
              <a:latin typeface="Open Sans Light"/>
              <a:ea typeface="Open Sans Light"/>
              <a:cs typeface="Open Sans Light"/>
              <a:sym typeface="Open Sans Light"/>
            </a:endParaRPr>
          </a:p>
        </p:txBody>
      </p:sp>
    </p:spTree>
  </p:cSld>
  <p:clrMapOvr>
    <a:masterClrMapping/>
  </p:clrMapOvr>
</p:sld>
</file>

<file path=ppt/theme/theme1.xml><?xml version="1.0" encoding="utf-8"?>
<a:theme xmlns:a="http://schemas.openxmlformats.org/drawingml/2006/main" xmlns:r="http://schemas.openxmlformats.org/officeDocument/2006/relationships" name="NTU SCTP">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